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6" r:id="rId2"/>
  </p:sldMasterIdLst>
  <p:notesMasterIdLst>
    <p:notesMasterId r:id="rId26"/>
  </p:notesMasterIdLst>
  <p:sldIdLst>
    <p:sldId id="3356" r:id="rId3"/>
    <p:sldId id="257" r:id="rId4"/>
    <p:sldId id="3402" r:id="rId5"/>
    <p:sldId id="3403" r:id="rId6"/>
    <p:sldId id="1044" r:id="rId7"/>
    <p:sldId id="3404" r:id="rId8"/>
    <p:sldId id="3394" r:id="rId9"/>
    <p:sldId id="3399" r:id="rId10"/>
    <p:sldId id="3405" r:id="rId11"/>
    <p:sldId id="3393" r:id="rId12"/>
    <p:sldId id="3396" r:id="rId13"/>
    <p:sldId id="3391" r:id="rId14"/>
    <p:sldId id="3390" r:id="rId15"/>
    <p:sldId id="3395" r:id="rId16"/>
    <p:sldId id="3392" r:id="rId17"/>
    <p:sldId id="3382" r:id="rId18"/>
    <p:sldId id="3406" r:id="rId19"/>
    <p:sldId id="3398" r:id="rId20"/>
    <p:sldId id="3372" r:id="rId21"/>
    <p:sldId id="3397" r:id="rId22"/>
    <p:sldId id="3380" r:id="rId23"/>
    <p:sldId id="3378" r:id="rId24"/>
    <p:sldId id="269" r:id="rId25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136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j8BIC/YVI9KC6110MbazHpvljA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DA31A"/>
    <a:srgbClr val="8C0505"/>
    <a:srgbClr val="FF2F2F"/>
    <a:srgbClr val="C90002"/>
    <a:srgbClr val="500D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320F05-05AD-4D9C-89D9-953A5AB4501F}">
  <a:tblStyle styleId="{60320F05-05AD-4D9C-89D9-953A5AB450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41"/>
  </p:normalViewPr>
  <p:slideViewPr>
    <p:cSldViewPr snapToGrid="0">
      <p:cViewPr varScale="1">
        <p:scale>
          <a:sx n="83" d="100"/>
          <a:sy n="83" d="100"/>
        </p:scale>
        <p:origin x="1478" y="77"/>
      </p:cViewPr>
      <p:guideLst>
        <p:guide orient="horz" pos="3952"/>
        <p:guide pos="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8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12E20D-F85C-40A7-86DF-84E51DC00CD9}" type="doc">
      <dgm:prSet loTypeId="urn:microsoft.com/office/officeart/2011/layout/HexagonRadial" loCatId="cycle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CA"/>
        </a:p>
      </dgm:t>
    </dgm:pt>
    <dgm:pt modelId="{8D605647-091A-434E-A548-62E35B239898}">
      <dgm:prSet phldrT="[Text]" custT="1"/>
      <dgm:spPr/>
      <dgm:t>
        <a:bodyPr/>
        <a:lstStyle/>
        <a:p>
          <a:r>
            <a:rPr lang="en-CA" sz="1050" dirty="0"/>
            <a:t>BBA Intelligent Data Platform</a:t>
          </a:r>
        </a:p>
      </dgm:t>
    </dgm:pt>
    <dgm:pt modelId="{13B01401-75BB-447F-BCA5-C6F1CB06553F}" type="parTrans" cxnId="{0272DEFC-EF03-4A2E-8E58-5FC19318D4B2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1678C047-1558-4DF1-8DB5-51C009B12937}" type="sibTrans" cxnId="{0272DEFC-EF03-4A2E-8E58-5FC19318D4B2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B7650984-4AA1-4ADF-847E-2EB824C8247B}">
      <dgm:prSet phldrT="[Text]" custT="1"/>
      <dgm:spPr/>
      <dgm:t>
        <a:bodyPr/>
        <a:lstStyle/>
        <a:p>
          <a:r>
            <a:rPr lang="en-CA" sz="1000"/>
            <a:t>Banks </a:t>
          </a:r>
          <a:r>
            <a:rPr lang="en-CA" sz="1000" b="0" i="0"/>
            <a:t>🏦</a:t>
          </a:r>
          <a:endParaRPr lang="en-CA" sz="1000" dirty="0"/>
        </a:p>
      </dgm:t>
    </dgm:pt>
    <dgm:pt modelId="{2D333644-DE83-4034-BF2D-5A055442378B}" type="parTrans" cxnId="{C2F613EC-D8E1-4AAE-94C1-A232D0EEA39E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B73F42E6-8C68-4632-A143-C2501E72B1D5}" type="sibTrans" cxnId="{C2F613EC-D8E1-4AAE-94C1-A232D0EEA39E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E7C1EC9A-881D-4177-9BDE-3BEBEE3BA824}">
      <dgm:prSet phldrT="[Text]" custT="1"/>
      <dgm:spPr/>
      <dgm:t>
        <a:bodyPr/>
        <a:lstStyle/>
        <a:p>
          <a:pPr>
            <a:buNone/>
          </a:pPr>
          <a:r>
            <a:rPr lang="en-CA" sz="1000" b="1" i="0"/>
            <a:t>Insurers </a:t>
          </a:r>
          <a:r>
            <a:rPr lang="en-CA" sz="1000" b="0" i="0"/>
            <a:t>🛡️</a:t>
          </a:r>
          <a:endParaRPr lang="en-CA" sz="1000" dirty="0"/>
        </a:p>
      </dgm:t>
    </dgm:pt>
    <dgm:pt modelId="{5C2ECA64-B56E-4062-9FCD-893671B8EA4F}" type="parTrans" cxnId="{B8685C42-7738-423D-8899-BC51C1F34162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01810F0A-6362-4CF0-80D5-680EA04B8FEF}" type="sibTrans" cxnId="{B8685C42-7738-423D-8899-BC51C1F34162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AFFBCB5D-DACA-4ABC-A9D6-C2DA32A0CC7F}">
      <dgm:prSet phldrT="[Text]" custT="1"/>
      <dgm:spPr/>
      <dgm:t>
        <a:bodyPr/>
        <a:lstStyle/>
        <a:p>
          <a:r>
            <a:rPr lang="en-CA" sz="1000"/>
            <a:t>Funds </a:t>
          </a:r>
          <a:r>
            <a:rPr lang="en-CA" sz="1000" b="0" i="0"/>
            <a:t>📊</a:t>
          </a:r>
          <a:endParaRPr lang="en-CA" sz="1000" dirty="0"/>
        </a:p>
      </dgm:t>
    </dgm:pt>
    <dgm:pt modelId="{740FCAC8-63B4-46B2-A07F-93C3BAC6FE29}" type="parTrans" cxnId="{053A42A2-7073-4B0F-869A-A140A2C11646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1C5D2F8E-2EB2-4C73-9DBC-9E94BD6E2198}" type="sibTrans" cxnId="{053A42A2-7073-4B0F-869A-A140A2C11646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534F594F-4DA4-47CC-860C-113CF7BD67B5}">
      <dgm:prSet phldrT="[Text]" custT="1"/>
      <dgm:spPr/>
      <dgm:t>
        <a:bodyPr/>
        <a:lstStyle/>
        <a:p>
          <a:pPr>
            <a:buNone/>
          </a:pPr>
          <a:r>
            <a:rPr lang="en-CA" sz="1000" b="1" i="0" dirty="0"/>
            <a:t>Supervisors </a:t>
          </a:r>
          <a:r>
            <a:rPr lang="en-CA" sz="1000" b="0" i="0" dirty="0"/>
            <a:t>👁️</a:t>
          </a:r>
          <a:endParaRPr lang="en-CA" sz="1000" dirty="0"/>
        </a:p>
      </dgm:t>
    </dgm:pt>
    <dgm:pt modelId="{2FB522C7-B02C-4639-8709-79C34B666D49}" type="parTrans" cxnId="{AE2C7C21-AC01-4AA0-A96C-F521C856B7C1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69C8810B-DD74-4687-B5F6-18841F791F7A}" type="sibTrans" cxnId="{AE2C7C21-AC01-4AA0-A96C-F521C856B7C1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AD046BBA-5DCE-469D-8316-16D65EED0F6B}">
      <dgm:prSet phldrT="[Text]" phldr="0" custT="1"/>
      <dgm:spPr/>
      <dgm:t>
        <a:bodyPr/>
        <a:lstStyle/>
        <a:p>
          <a:r>
            <a:rPr lang="en-US" sz="1000"/>
            <a:t>Conglomerates </a:t>
          </a:r>
          <a:r>
            <a:rPr lang="en-CA" sz="1000" b="0" i="0"/>
            <a:t>☂️</a:t>
          </a:r>
          <a:endParaRPr lang="en-CA" sz="1000" dirty="0"/>
        </a:p>
      </dgm:t>
    </dgm:pt>
    <dgm:pt modelId="{60A0928C-94B6-4AE1-8A89-EF7525F2127D}" type="parTrans" cxnId="{5A93A338-7653-4B11-8642-97474FF0C424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E225CEF2-1820-4825-8B30-9F212AAECCD8}" type="sibTrans" cxnId="{5A93A338-7653-4B11-8642-97474FF0C424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39A8478C-0C7C-4C07-8A24-7DF255F9D6B3}">
      <dgm:prSet phldrT="[Text]" phldr="0" custT="1"/>
      <dgm:spPr/>
      <dgm:t>
        <a:bodyPr/>
        <a:lstStyle/>
        <a:p>
          <a:r>
            <a:rPr lang="en-US" sz="1000" dirty="0"/>
            <a:t>Governmental Organizations </a:t>
          </a:r>
          <a:r>
            <a:rPr lang="en-CA" sz="1000" b="0" i="0" dirty="0"/>
            <a:t>🏛️</a:t>
          </a:r>
          <a:endParaRPr lang="en-CA" sz="1000" dirty="0"/>
        </a:p>
      </dgm:t>
    </dgm:pt>
    <dgm:pt modelId="{D444C9C9-0080-4625-99DC-DD6CD630E2F9}" type="parTrans" cxnId="{F594A589-25CD-47AD-BB2C-A5E71BECCD96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CDE7EFDD-0396-42CD-8F48-68957599A006}" type="sibTrans" cxnId="{F594A589-25CD-47AD-BB2C-A5E71BECCD96}">
      <dgm:prSet/>
      <dgm:spPr/>
      <dgm:t>
        <a:bodyPr/>
        <a:lstStyle/>
        <a:p>
          <a:endParaRPr lang="en-CA" sz="1800">
            <a:solidFill>
              <a:schemeClr val="tx1"/>
            </a:solidFill>
          </a:endParaRPr>
        </a:p>
      </dgm:t>
    </dgm:pt>
    <dgm:pt modelId="{8ED27E7A-A30C-4EE8-A26E-78187CEDB755}" type="pres">
      <dgm:prSet presAssocID="{4812E20D-F85C-40A7-86DF-84E51DC00CD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B4EBE31-FF92-4894-B546-934E1CEC55D0}" type="pres">
      <dgm:prSet presAssocID="{8D605647-091A-434E-A548-62E35B239898}" presName="Parent" presStyleLbl="node0" presStyleIdx="0" presStyleCnt="1">
        <dgm:presLayoutVars>
          <dgm:chMax val="6"/>
          <dgm:chPref val="6"/>
        </dgm:presLayoutVars>
      </dgm:prSet>
      <dgm:spPr/>
    </dgm:pt>
    <dgm:pt modelId="{9343DA06-2E55-4573-89F9-A23423825A36}" type="pres">
      <dgm:prSet presAssocID="{B7650984-4AA1-4ADF-847E-2EB824C8247B}" presName="Accent1" presStyleCnt="0"/>
      <dgm:spPr/>
    </dgm:pt>
    <dgm:pt modelId="{80B1B7FB-1DFB-4435-9986-BF9ECA9BD750}" type="pres">
      <dgm:prSet presAssocID="{B7650984-4AA1-4ADF-847E-2EB824C8247B}" presName="Accent" presStyleLbl="bgShp" presStyleIdx="0" presStyleCnt="6"/>
      <dgm:spPr/>
    </dgm:pt>
    <dgm:pt modelId="{23AEE381-2EAB-49B7-B165-15E4B0538150}" type="pres">
      <dgm:prSet presAssocID="{B7650984-4AA1-4ADF-847E-2EB824C8247B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F4616B8-2341-4E59-A862-66ACAD322BD0}" type="pres">
      <dgm:prSet presAssocID="{E7C1EC9A-881D-4177-9BDE-3BEBEE3BA824}" presName="Accent2" presStyleCnt="0"/>
      <dgm:spPr/>
    </dgm:pt>
    <dgm:pt modelId="{C03DF956-A447-4CC4-867B-454A51BA448B}" type="pres">
      <dgm:prSet presAssocID="{E7C1EC9A-881D-4177-9BDE-3BEBEE3BA824}" presName="Accent" presStyleLbl="bgShp" presStyleIdx="1" presStyleCnt="6"/>
      <dgm:spPr/>
    </dgm:pt>
    <dgm:pt modelId="{232164DE-4EE7-41DD-925E-DCA6CEAB89A2}" type="pres">
      <dgm:prSet presAssocID="{E7C1EC9A-881D-4177-9BDE-3BEBEE3BA824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B7D50A9-31B9-42A3-8451-E9B94AC91D6B}" type="pres">
      <dgm:prSet presAssocID="{AFFBCB5D-DACA-4ABC-A9D6-C2DA32A0CC7F}" presName="Accent3" presStyleCnt="0"/>
      <dgm:spPr/>
    </dgm:pt>
    <dgm:pt modelId="{EBD77BA2-5EA5-46EF-A808-8B9C3A12DBCD}" type="pres">
      <dgm:prSet presAssocID="{AFFBCB5D-DACA-4ABC-A9D6-C2DA32A0CC7F}" presName="Accent" presStyleLbl="bgShp" presStyleIdx="2" presStyleCnt="6"/>
      <dgm:spPr/>
    </dgm:pt>
    <dgm:pt modelId="{5850F1D7-737E-45D7-A9FB-51B17B8039BA}" type="pres">
      <dgm:prSet presAssocID="{AFFBCB5D-DACA-4ABC-A9D6-C2DA32A0CC7F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809CC0F8-166F-4514-94B4-3EC34C6B0D7B}" type="pres">
      <dgm:prSet presAssocID="{534F594F-4DA4-47CC-860C-113CF7BD67B5}" presName="Accent4" presStyleCnt="0"/>
      <dgm:spPr/>
    </dgm:pt>
    <dgm:pt modelId="{02BA7905-C6AD-4246-9B20-A728E42724F6}" type="pres">
      <dgm:prSet presAssocID="{534F594F-4DA4-47CC-860C-113CF7BD67B5}" presName="Accent" presStyleLbl="bgShp" presStyleIdx="3" presStyleCnt="6"/>
      <dgm:spPr/>
    </dgm:pt>
    <dgm:pt modelId="{388DA9B9-7654-41C5-BCFE-AE4B40125461}" type="pres">
      <dgm:prSet presAssocID="{534F594F-4DA4-47CC-860C-113CF7BD67B5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C3D3D8B-C785-4209-AB8A-A8299D986287}" type="pres">
      <dgm:prSet presAssocID="{AD046BBA-5DCE-469D-8316-16D65EED0F6B}" presName="Accent5" presStyleCnt="0"/>
      <dgm:spPr/>
    </dgm:pt>
    <dgm:pt modelId="{C2F55814-15CF-49EB-A806-DEEE9CB6F7CB}" type="pres">
      <dgm:prSet presAssocID="{AD046BBA-5DCE-469D-8316-16D65EED0F6B}" presName="Accent" presStyleLbl="bgShp" presStyleIdx="4" presStyleCnt="6"/>
      <dgm:spPr/>
    </dgm:pt>
    <dgm:pt modelId="{19330A55-C041-4798-8E89-17DAEB98D693}" type="pres">
      <dgm:prSet presAssocID="{AD046BBA-5DCE-469D-8316-16D65EED0F6B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69F9F3FD-6298-49BA-885F-DA86F02C90A1}" type="pres">
      <dgm:prSet presAssocID="{39A8478C-0C7C-4C07-8A24-7DF255F9D6B3}" presName="Accent6" presStyleCnt="0"/>
      <dgm:spPr/>
    </dgm:pt>
    <dgm:pt modelId="{251ADCDC-8EAF-41B1-BB47-201644FE8C56}" type="pres">
      <dgm:prSet presAssocID="{39A8478C-0C7C-4C07-8A24-7DF255F9D6B3}" presName="Accent" presStyleLbl="bgShp" presStyleIdx="5" presStyleCnt="6"/>
      <dgm:spPr/>
    </dgm:pt>
    <dgm:pt modelId="{4B9AD313-7C6C-45F6-BD60-04D86994DB95}" type="pres">
      <dgm:prSet presAssocID="{39A8478C-0C7C-4C07-8A24-7DF255F9D6B3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E2C7C21-AC01-4AA0-A96C-F521C856B7C1}" srcId="{8D605647-091A-434E-A548-62E35B239898}" destId="{534F594F-4DA4-47CC-860C-113CF7BD67B5}" srcOrd="3" destOrd="0" parTransId="{2FB522C7-B02C-4639-8709-79C34B666D49}" sibTransId="{69C8810B-DD74-4687-B5F6-18841F791F7A}"/>
    <dgm:cxn modelId="{F54FF527-EDC3-4D1F-9CE4-7B0BC16369B1}" type="presOf" srcId="{E7C1EC9A-881D-4177-9BDE-3BEBEE3BA824}" destId="{232164DE-4EE7-41DD-925E-DCA6CEAB89A2}" srcOrd="0" destOrd="0" presId="urn:microsoft.com/office/officeart/2011/layout/HexagonRadial"/>
    <dgm:cxn modelId="{5A93A338-7653-4B11-8642-97474FF0C424}" srcId="{8D605647-091A-434E-A548-62E35B239898}" destId="{AD046BBA-5DCE-469D-8316-16D65EED0F6B}" srcOrd="4" destOrd="0" parTransId="{60A0928C-94B6-4AE1-8A89-EF7525F2127D}" sibTransId="{E225CEF2-1820-4825-8B30-9F212AAECCD8}"/>
    <dgm:cxn modelId="{B8685C42-7738-423D-8899-BC51C1F34162}" srcId="{8D605647-091A-434E-A548-62E35B239898}" destId="{E7C1EC9A-881D-4177-9BDE-3BEBEE3BA824}" srcOrd="1" destOrd="0" parTransId="{5C2ECA64-B56E-4062-9FCD-893671B8EA4F}" sibTransId="{01810F0A-6362-4CF0-80D5-680EA04B8FEF}"/>
    <dgm:cxn modelId="{63DAD945-DDA2-4247-8278-93235E5E3080}" type="presOf" srcId="{534F594F-4DA4-47CC-860C-113CF7BD67B5}" destId="{388DA9B9-7654-41C5-BCFE-AE4B40125461}" srcOrd="0" destOrd="0" presId="urn:microsoft.com/office/officeart/2011/layout/HexagonRadial"/>
    <dgm:cxn modelId="{F8F3E346-4CDF-4E6C-85E3-A5DF5543C01F}" type="presOf" srcId="{39A8478C-0C7C-4C07-8A24-7DF255F9D6B3}" destId="{4B9AD313-7C6C-45F6-BD60-04D86994DB95}" srcOrd="0" destOrd="0" presId="urn:microsoft.com/office/officeart/2011/layout/HexagonRadial"/>
    <dgm:cxn modelId="{E86FD772-50D1-4C54-BA00-2A91EC76E7C0}" type="presOf" srcId="{4812E20D-F85C-40A7-86DF-84E51DC00CD9}" destId="{8ED27E7A-A30C-4EE8-A26E-78187CEDB755}" srcOrd="0" destOrd="0" presId="urn:microsoft.com/office/officeart/2011/layout/HexagonRadial"/>
    <dgm:cxn modelId="{7129A156-60CB-4E78-B27B-172EA2927111}" type="presOf" srcId="{8D605647-091A-434E-A548-62E35B239898}" destId="{2B4EBE31-FF92-4894-B546-934E1CEC55D0}" srcOrd="0" destOrd="0" presId="urn:microsoft.com/office/officeart/2011/layout/HexagonRadial"/>
    <dgm:cxn modelId="{F594A589-25CD-47AD-BB2C-A5E71BECCD96}" srcId="{8D605647-091A-434E-A548-62E35B239898}" destId="{39A8478C-0C7C-4C07-8A24-7DF255F9D6B3}" srcOrd="5" destOrd="0" parTransId="{D444C9C9-0080-4625-99DC-DD6CD630E2F9}" sibTransId="{CDE7EFDD-0396-42CD-8F48-68957599A006}"/>
    <dgm:cxn modelId="{053A42A2-7073-4B0F-869A-A140A2C11646}" srcId="{8D605647-091A-434E-A548-62E35B239898}" destId="{AFFBCB5D-DACA-4ABC-A9D6-C2DA32A0CC7F}" srcOrd="2" destOrd="0" parTransId="{740FCAC8-63B4-46B2-A07F-93C3BAC6FE29}" sibTransId="{1C5D2F8E-2EB2-4C73-9DBC-9E94BD6E2198}"/>
    <dgm:cxn modelId="{B2FD17B0-41AB-45AF-A12F-7C58BFB42FDE}" type="presOf" srcId="{AD046BBA-5DCE-469D-8316-16D65EED0F6B}" destId="{19330A55-C041-4798-8E89-17DAEB98D693}" srcOrd="0" destOrd="0" presId="urn:microsoft.com/office/officeart/2011/layout/HexagonRadial"/>
    <dgm:cxn modelId="{C2F613EC-D8E1-4AAE-94C1-A232D0EEA39E}" srcId="{8D605647-091A-434E-A548-62E35B239898}" destId="{B7650984-4AA1-4ADF-847E-2EB824C8247B}" srcOrd="0" destOrd="0" parTransId="{2D333644-DE83-4034-BF2D-5A055442378B}" sibTransId="{B73F42E6-8C68-4632-A143-C2501E72B1D5}"/>
    <dgm:cxn modelId="{2D3F50ED-100B-47D7-A4D7-755223252442}" type="presOf" srcId="{B7650984-4AA1-4ADF-847E-2EB824C8247B}" destId="{23AEE381-2EAB-49B7-B165-15E4B0538150}" srcOrd="0" destOrd="0" presId="urn:microsoft.com/office/officeart/2011/layout/HexagonRadial"/>
    <dgm:cxn modelId="{0272DEFC-EF03-4A2E-8E58-5FC19318D4B2}" srcId="{4812E20D-F85C-40A7-86DF-84E51DC00CD9}" destId="{8D605647-091A-434E-A548-62E35B239898}" srcOrd="0" destOrd="0" parTransId="{13B01401-75BB-447F-BCA5-C6F1CB06553F}" sibTransId="{1678C047-1558-4DF1-8DB5-51C009B12937}"/>
    <dgm:cxn modelId="{F0A4F5FC-1A28-4AA7-ADD1-4B07385BBE20}" type="presOf" srcId="{AFFBCB5D-DACA-4ABC-A9D6-C2DA32A0CC7F}" destId="{5850F1D7-737E-45D7-A9FB-51B17B8039BA}" srcOrd="0" destOrd="0" presId="urn:microsoft.com/office/officeart/2011/layout/HexagonRadial"/>
    <dgm:cxn modelId="{946BDAF5-BE0E-403F-ACAE-8E7BC0CC2B54}" type="presParOf" srcId="{8ED27E7A-A30C-4EE8-A26E-78187CEDB755}" destId="{2B4EBE31-FF92-4894-B546-934E1CEC55D0}" srcOrd="0" destOrd="0" presId="urn:microsoft.com/office/officeart/2011/layout/HexagonRadial"/>
    <dgm:cxn modelId="{66285482-BCE3-4AFD-8AAE-06DBE71473A8}" type="presParOf" srcId="{8ED27E7A-A30C-4EE8-A26E-78187CEDB755}" destId="{9343DA06-2E55-4573-89F9-A23423825A36}" srcOrd="1" destOrd="0" presId="urn:microsoft.com/office/officeart/2011/layout/HexagonRadial"/>
    <dgm:cxn modelId="{47CC8E8B-85C3-4796-A3DA-ED79BFAF432F}" type="presParOf" srcId="{9343DA06-2E55-4573-89F9-A23423825A36}" destId="{80B1B7FB-1DFB-4435-9986-BF9ECA9BD750}" srcOrd="0" destOrd="0" presId="urn:microsoft.com/office/officeart/2011/layout/HexagonRadial"/>
    <dgm:cxn modelId="{6A794566-FCB4-48BD-87D0-F1A26072973B}" type="presParOf" srcId="{8ED27E7A-A30C-4EE8-A26E-78187CEDB755}" destId="{23AEE381-2EAB-49B7-B165-15E4B0538150}" srcOrd="2" destOrd="0" presId="urn:microsoft.com/office/officeart/2011/layout/HexagonRadial"/>
    <dgm:cxn modelId="{4DD4CFC6-6F18-4EF5-AED6-5CFB4C6A4E70}" type="presParOf" srcId="{8ED27E7A-A30C-4EE8-A26E-78187CEDB755}" destId="{7F4616B8-2341-4E59-A862-66ACAD322BD0}" srcOrd="3" destOrd="0" presId="urn:microsoft.com/office/officeart/2011/layout/HexagonRadial"/>
    <dgm:cxn modelId="{A09B71BD-C477-4E2F-A158-3A717469DEB7}" type="presParOf" srcId="{7F4616B8-2341-4E59-A862-66ACAD322BD0}" destId="{C03DF956-A447-4CC4-867B-454A51BA448B}" srcOrd="0" destOrd="0" presId="urn:microsoft.com/office/officeart/2011/layout/HexagonRadial"/>
    <dgm:cxn modelId="{230559B0-D932-4109-8A04-FE61A1C2C639}" type="presParOf" srcId="{8ED27E7A-A30C-4EE8-A26E-78187CEDB755}" destId="{232164DE-4EE7-41DD-925E-DCA6CEAB89A2}" srcOrd="4" destOrd="0" presId="urn:microsoft.com/office/officeart/2011/layout/HexagonRadial"/>
    <dgm:cxn modelId="{D03976D7-577D-485D-B1AF-99A139FDF4D9}" type="presParOf" srcId="{8ED27E7A-A30C-4EE8-A26E-78187CEDB755}" destId="{CB7D50A9-31B9-42A3-8451-E9B94AC91D6B}" srcOrd="5" destOrd="0" presId="urn:microsoft.com/office/officeart/2011/layout/HexagonRadial"/>
    <dgm:cxn modelId="{AE164F65-C218-4D91-A52B-9A1B7BD7F250}" type="presParOf" srcId="{CB7D50A9-31B9-42A3-8451-E9B94AC91D6B}" destId="{EBD77BA2-5EA5-46EF-A808-8B9C3A12DBCD}" srcOrd="0" destOrd="0" presId="urn:microsoft.com/office/officeart/2011/layout/HexagonRadial"/>
    <dgm:cxn modelId="{7B8D3AB0-94B4-498D-BE5C-992C804BCEA0}" type="presParOf" srcId="{8ED27E7A-A30C-4EE8-A26E-78187CEDB755}" destId="{5850F1D7-737E-45D7-A9FB-51B17B8039BA}" srcOrd="6" destOrd="0" presId="urn:microsoft.com/office/officeart/2011/layout/HexagonRadial"/>
    <dgm:cxn modelId="{2F0B7D46-785E-4EBB-B824-2269E17495AE}" type="presParOf" srcId="{8ED27E7A-A30C-4EE8-A26E-78187CEDB755}" destId="{809CC0F8-166F-4514-94B4-3EC34C6B0D7B}" srcOrd="7" destOrd="0" presId="urn:microsoft.com/office/officeart/2011/layout/HexagonRadial"/>
    <dgm:cxn modelId="{1F00862B-8C26-47DD-BD45-2094DE063A53}" type="presParOf" srcId="{809CC0F8-166F-4514-94B4-3EC34C6B0D7B}" destId="{02BA7905-C6AD-4246-9B20-A728E42724F6}" srcOrd="0" destOrd="0" presId="urn:microsoft.com/office/officeart/2011/layout/HexagonRadial"/>
    <dgm:cxn modelId="{754B0FE5-0F71-4E5E-B11D-A640D16E2148}" type="presParOf" srcId="{8ED27E7A-A30C-4EE8-A26E-78187CEDB755}" destId="{388DA9B9-7654-41C5-BCFE-AE4B40125461}" srcOrd="8" destOrd="0" presId="urn:microsoft.com/office/officeart/2011/layout/HexagonRadial"/>
    <dgm:cxn modelId="{AB32192D-EEE6-4806-B9A5-3EEA194C2805}" type="presParOf" srcId="{8ED27E7A-A30C-4EE8-A26E-78187CEDB755}" destId="{BC3D3D8B-C785-4209-AB8A-A8299D986287}" srcOrd="9" destOrd="0" presId="urn:microsoft.com/office/officeart/2011/layout/HexagonRadial"/>
    <dgm:cxn modelId="{7087864E-74E8-4730-838A-9C13BB010B6D}" type="presParOf" srcId="{BC3D3D8B-C785-4209-AB8A-A8299D986287}" destId="{C2F55814-15CF-49EB-A806-DEEE9CB6F7CB}" srcOrd="0" destOrd="0" presId="urn:microsoft.com/office/officeart/2011/layout/HexagonRadial"/>
    <dgm:cxn modelId="{109FBD5D-D509-4DD2-9B6B-0DC124CD05FB}" type="presParOf" srcId="{8ED27E7A-A30C-4EE8-A26E-78187CEDB755}" destId="{19330A55-C041-4798-8E89-17DAEB98D693}" srcOrd="10" destOrd="0" presId="urn:microsoft.com/office/officeart/2011/layout/HexagonRadial"/>
    <dgm:cxn modelId="{3F56D423-1761-4169-B417-F2CBB609F5C8}" type="presParOf" srcId="{8ED27E7A-A30C-4EE8-A26E-78187CEDB755}" destId="{69F9F3FD-6298-49BA-885F-DA86F02C90A1}" srcOrd="11" destOrd="0" presId="urn:microsoft.com/office/officeart/2011/layout/HexagonRadial"/>
    <dgm:cxn modelId="{83DACF7A-C3E5-4C71-A64A-D5609CCEAB89}" type="presParOf" srcId="{69F9F3FD-6298-49BA-885F-DA86F02C90A1}" destId="{251ADCDC-8EAF-41B1-BB47-201644FE8C56}" srcOrd="0" destOrd="0" presId="urn:microsoft.com/office/officeart/2011/layout/HexagonRadial"/>
    <dgm:cxn modelId="{C5BD8C84-0C61-4C06-B83F-112736AEA3BB}" type="presParOf" srcId="{8ED27E7A-A30C-4EE8-A26E-78187CEDB755}" destId="{4B9AD313-7C6C-45F6-BD60-04D86994DB95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EBE31-FF92-4894-B546-934E1CEC55D0}">
      <dsp:nvSpPr>
        <dsp:cNvPr id="0" name=""/>
        <dsp:cNvSpPr/>
      </dsp:nvSpPr>
      <dsp:spPr>
        <a:xfrm>
          <a:off x="2214607" y="1311046"/>
          <a:ext cx="1666396" cy="1441500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50" kern="1200" dirty="0"/>
            <a:t>BBA Intelligent Data Platform</a:t>
          </a:r>
        </a:p>
      </dsp:txBody>
      <dsp:txXfrm>
        <a:off x="2490752" y="1549923"/>
        <a:ext cx="1114106" cy="963746"/>
      </dsp:txXfrm>
    </dsp:sp>
    <dsp:sp modelId="{C03DF956-A447-4CC4-867B-454A51BA448B}">
      <dsp:nvSpPr>
        <dsp:cNvPr id="0" name=""/>
        <dsp:cNvSpPr/>
      </dsp:nvSpPr>
      <dsp:spPr>
        <a:xfrm>
          <a:off x="3258092" y="621385"/>
          <a:ext cx="628726" cy="5417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EE381-2EAB-49B7-B165-15E4B0538150}">
      <dsp:nvSpPr>
        <dsp:cNvPr id="0" name=""/>
        <dsp:cNvSpPr/>
      </dsp:nvSpPr>
      <dsp:spPr>
        <a:xfrm>
          <a:off x="2368106" y="0"/>
          <a:ext cx="1365600" cy="1181404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/>
            <a:t>Banks </a:t>
          </a:r>
          <a:r>
            <a:rPr lang="en-CA" sz="1000" b="0" i="0" kern="1200"/>
            <a:t>🏦</a:t>
          </a:r>
          <a:endParaRPr lang="en-CA" sz="1000" kern="1200" dirty="0"/>
        </a:p>
      </dsp:txBody>
      <dsp:txXfrm>
        <a:off x="2594415" y="195784"/>
        <a:ext cx="912982" cy="789836"/>
      </dsp:txXfrm>
    </dsp:sp>
    <dsp:sp modelId="{EBD77BA2-5EA5-46EF-A808-8B9C3A12DBCD}">
      <dsp:nvSpPr>
        <dsp:cNvPr id="0" name=""/>
        <dsp:cNvSpPr/>
      </dsp:nvSpPr>
      <dsp:spPr>
        <a:xfrm>
          <a:off x="3991865" y="1634134"/>
          <a:ext cx="628726" cy="5417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2164DE-4EE7-41DD-925E-DCA6CEAB89A2}">
      <dsp:nvSpPr>
        <dsp:cNvPr id="0" name=""/>
        <dsp:cNvSpPr/>
      </dsp:nvSpPr>
      <dsp:spPr>
        <a:xfrm>
          <a:off x="3620521" y="726643"/>
          <a:ext cx="1365600" cy="1181404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b="1" i="0" kern="1200"/>
            <a:t>Insurers </a:t>
          </a:r>
          <a:r>
            <a:rPr lang="en-CA" sz="1000" b="0" i="0" kern="1200"/>
            <a:t>🛡️</a:t>
          </a:r>
          <a:endParaRPr lang="en-CA" sz="1000" kern="1200" dirty="0"/>
        </a:p>
      </dsp:txBody>
      <dsp:txXfrm>
        <a:off x="3846830" y="922427"/>
        <a:ext cx="912982" cy="789836"/>
      </dsp:txXfrm>
    </dsp:sp>
    <dsp:sp modelId="{02BA7905-C6AD-4246-9B20-A728E42724F6}">
      <dsp:nvSpPr>
        <dsp:cNvPr id="0" name=""/>
        <dsp:cNvSpPr/>
      </dsp:nvSpPr>
      <dsp:spPr>
        <a:xfrm>
          <a:off x="3482139" y="2777337"/>
          <a:ext cx="628726" cy="5417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0F1D7-737E-45D7-A9FB-51B17B8039BA}">
      <dsp:nvSpPr>
        <dsp:cNvPr id="0" name=""/>
        <dsp:cNvSpPr/>
      </dsp:nvSpPr>
      <dsp:spPr>
        <a:xfrm>
          <a:off x="3620521" y="2155139"/>
          <a:ext cx="1365600" cy="1181404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kern="1200"/>
            <a:t>Funds </a:t>
          </a:r>
          <a:r>
            <a:rPr lang="en-CA" sz="1000" b="0" i="0" kern="1200"/>
            <a:t>📊</a:t>
          </a:r>
          <a:endParaRPr lang="en-CA" sz="1000" kern="1200" dirty="0"/>
        </a:p>
      </dsp:txBody>
      <dsp:txXfrm>
        <a:off x="3846830" y="2350923"/>
        <a:ext cx="912982" cy="789836"/>
      </dsp:txXfrm>
    </dsp:sp>
    <dsp:sp modelId="{C2F55814-15CF-49EB-A806-DEEE9CB6F7CB}">
      <dsp:nvSpPr>
        <dsp:cNvPr id="0" name=""/>
        <dsp:cNvSpPr/>
      </dsp:nvSpPr>
      <dsp:spPr>
        <a:xfrm>
          <a:off x="2217708" y="2896006"/>
          <a:ext cx="628726" cy="5417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DA9B9-7654-41C5-BCFE-AE4B40125461}">
      <dsp:nvSpPr>
        <dsp:cNvPr id="0" name=""/>
        <dsp:cNvSpPr/>
      </dsp:nvSpPr>
      <dsp:spPr>
        <a:xfrm>
          <a:off x="2368106" y="2882595"/>
          <a:ext cx="1365600" cy="1181404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000" b="1" i="0" kern="1200" dirty="0"/>
            <a:t>Supervisors </a:t>
          </a:r>
          <a:r>
            <a:rPr lang="en-CA" sz="1000" b="0" i="0" kern="1200" dirty="0"/>
            <a:t>👁️</a:t>
          </a:r>
          <a:endParaRPr lang="en-CA" sz="1000" kern="1200" dirty="0"/>
        </a:p>
      </dsp:txBody>
      <dsp:txXfrm>
        <a:off x="2594415" y="3078379"/>
        <a:ext cx="912982" cy="789836"/>
      </dsp:txXfrm>
    </dsp:sp>
    <dsp:sp modelId="{251ADCDC-8EAF-41B1-BB47-201644FE8C56}">
      <dsp:nvSpPr>
        <dsp:cNvPr id="0" name=""/>
        <dsp:cNvSpPr/>
      </dsp:nvSpPr>
      <dsp:spPr>
        <a:xfrm>
          <a:off x="1471919" y="1883664"/>
          <a:ext cx="628726" cy="541731"/>
        </a:xfrm>
        <a:prstGeom prst="hexagon">
          <a:avLst>
            <a:gd name="adj" fmla="val 28900"/>
            <a:gd name="vf" fmla="val 11547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330A55-C041-4798-8E89-17DAEB98D693}">
      <dsp:nvSpPr>
        <dsp:cNvPr id="0" name=""/>
        <dsp:cNvSpPr/>
      </dsp:nvSpPr>
      <dsp:spPr>
        <a:xfrm>
          <a:off x="1109878" y="2155952"/>
          <a:ext cx="1365600" cy="1181404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Conglomerates </a:t>
          </a:r>
          <a:r>
            <a:rPr lang="en-CA" sz="1000" b="0" i="0" kern="1200"/>
            <a:t>☂️</a:t>
          </a:r>
          <a:endParaRPr lang="en-CA" sz="1000" kern="1200" dirty="0"/>
        </a:p>
      </dsp:txBody>
      <dsp:txXfrm>
        <a:off x="1336187" y="2351736"/>
        <a:ext cx="912982" cy="789836"/>
      </dsp:txXfrm>
    </dsp:sp>
    <dsp:sp modelId="{4B9AD313-7C6C-45F6-BD60-04D86994DB95}">
      <dsp:nvSpPr>
        <dsp:cNvPr id="0" name=""/>
        <dsp:cNvSpPr/>
      </dsp:nvSpPr>
      <dsp:spPr>
        <a:xfrm>
          <a:off x="1109878" y="725017"/>
          <a:ext cx="1365600" cy="1181404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Governmental Organizations </a:t>
          </a:r>
          <a:r>
            <a:rPr lang="en-CA" sz="1000" b="0" i="0" kern="1200" dirty="0"/>
            <a:t>🏛️</a:t>
          </a:r>
          <a:endParaRPr lang="en-CA" sz="1000" kern="1200" dirty="0"/>
        </a:p>
      </dsp:txBody>
      <dsp:txXfrm>
        <a:off x="1336187" y="920801"/>
        <a:ext cx="912982" cy="789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98600" y="1200150"/>
            <a:ext cx="431800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8600" y="1200150"/>
            <a:ext cx="431800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5713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C3B4BA04-6586-6EBC-9068-FEC477B73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3EED8B-CE79-4664-B491-2A0DB156CF57}" type="slidenum">
              <a:rPr lang="en-US" altLang="en-US" sz="800"/>
              <a:pPr algn="r"/>
              <a:t>5</a:t>
            </a:fld>
            <a:endParaRPr lang="en-US" altLang="en-US" sz="800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AB1AE86-4532-FF84-D60E-C7CB7C476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ED568B8-BF45-351B-C8D1-A43BAB093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5A3D-10BC-535C-0E2C-0031E3DD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FC30C565-543E-ACD3-D2E9-4CDF166E21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3EED8B-CE79-4664-B491-2A0DB156CF57}" type="slidenum">
              <a:rPr lang="en-US" altLang="en-US" sz="800"/>
              <a:pPr algn="r"/>
              <a:t>11</a:t>
            </a:fld>
            <a:endParaRPr lang="en-US" altLang="en-US" sz="800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7306AD8-7ED3-A463-2875-AAABE59DD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3CC6077-FD7D-6BC3-23A0-3E938AE1C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10225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59CA-9C2C-86CE-6B91-1862449C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>
            <a:extLst>
              <a:ext uri="{FF2B5EF4-FFF2-40B4-BE49-F238E27FC236}">
                <a16:creationId xmlns:a16="http://schemas.microsoft.com/office/drawing/2014/main" id="{CD837B44-A053-3B3A-BA2E-AB2E7A7352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71A4AAE-5FB2-4D9C-A894-5AC97F59455E}" type="slidenum">
              <a:rPr lang="en-US" altLang="en-US" sz="800"/>
              <a:pPr algn="r"/>
              <a:t>13</a:t>
            </a:fld>
            <a:endParaRPr lang="en-US" altLang="en-US" sz="800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1565043-B518-6B6F-E570-FA0EDAC706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CA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1B89247C-5C3A-CC00-CD36-04C1965747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4411663"/>
            <a:ext cx="5724525" cy="4579937"/>
          </a:xfrm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9670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EE1E-A73B-D261-A272-9D792F7C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91DC403F-5FF1-441B-FE0C-CC479FCF56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3EED8B-CE79-4664-B491-2A0DB156CF57}" type="slidenum">
              <a:rPr lang="en-US" altLang="en-US" sz="800"/>
              <a:pPr algn="r"/>
              <a:t>14</a:t>
            </a:fld>
            <a:endParaRPr lang="en-US" altLang="en-US" sz="800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52EDC28-63FF-3B49-16EB-AD47DFECE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7AB8BA1-40DA-CAB4-BD9F-BB0789B486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17406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778A-079A-8C4A-FD72-F84AAF6C8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2D9D06A3-A4F7-D894-39E9-D9BDA36FE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 defTabSz="915988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3EED8B-CE79-4664-B491-2A0DB156CF57}" type="slidenum">
              <a:rPr lang="en-US" altLang="en-US" sz="800"/>
              <a:pPr algn="r"/>
              <a:t>20</a:t>
            </a:fld>
            <a:endParaRPr lang="en-US" altLang="en-US" sz="800" dirty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B827322-6035-EFCE-7075-E8D5997461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1927858-235F-D6A5-895B-4AD6D8FEC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05845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64" name="Google Shape;46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98600" y="1200150"/>
            <a:ext cx="431800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/>
          <p:nvPr/>
        </p:nvSpPr>
        <p:spPr>
          <a:xfrm>
            <a:off x="0" y="-1"/>
            <a:ext cx="9144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5"/>
          <p:cNvSpPr txBox="1">
            <a:spLocks noGrp="1"/>
          </p:cNvSpPr>
          <p:nvPr>
            <p:ph type="ctrTitle"/>
          </p:nvPr>
        </p:nvSpPr>
        <p:spPr>
          <a:xfrm>
            <a:off x="107864" y="1848659"/>
            <a:ext cx="8928277" cy="155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subTitle" idx="1"/>
          </p:nvPr>
        </p:nvSpPr>
        <p:spPr>
          <a:xfrm>
            <a:off x="107863" y="3552724"/>
            <a:ext cx="8937664" cy="116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5"/>
          <p:cNvSpPr/>
          <p:nvPr/>
        </p:nvSpPr>
        <p:spPr>
          <a:xfrm>
            <a:off x="0" y="6512548"/>
            <a:ext cx="9144000" cy="359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8637564" y="6532835"/>
            <a:ext cx="50643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Google Shape;25;p25"/>
          <p:cNvSpPr/>
          <p:nvPr/>
        </p:nvSpPr>
        <p:spPr>
          <a:xfrm>
            <a:off x="107863" y="6601296"/>
            <a:ext cx="482132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sz="1000" b="0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155579" y="25401"/>
            <a:ext cx="8861423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ftr" idx="11"/>
          </p:nvPr>
        </p:nvSpPr>
        <p:spPr>
          <a:xfrm>
            <a:off x="8614312" y="37256"/>
            <a:ext cx="30129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9" name="Google Shape;29;p27"/>
          <p:cNvSpPr txBox="1">
            <a:spLocks noGrp="1"/>
          </p:cNvSpPr>
          <p:nvPr>
            <p:ph type="sldNum" idx="12"/>
          </p:nvPr>
        </p:nvSpPr>
        <p:spPr>
          <a:xfrm>
            <a:off x="7515861" y="6502055"/>
            <a:ext cx="462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Big Image Placeholder">
  <p:cSld name="8_Big Image Placehol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>
            <a:spLocks noGrp="1"/>
          </p:cNvSpPr>
          <p:nvPr>
            <p:ph type="pic" idx="2"/>
          </p:nvPr>
        </p:nvSpPr>
        <p:spPr>
          <a:xfrm>
            <a:off x="6765829" y="744039"/>
            <a:ext cx="685979" cy="9144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54" name="Google Shape;54;p33"/>
          <p:cNvSpPr>
            <a:spLocks noGrp="1"/>
          </p:cNvSpPr>
          <p:nvPr>
            <p:ph type="pic" idx="3"/>
          </p:nvPr>
        </p:nvSpPr>
        <p:spPr>
          <a:xfrm>
            <a:off x="4431812" y="744039"/>
            <a:ext cx="685979" cy="9144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55" name="Google Shape;55;p33"/>
          <p:cNvSpPr>
            <a:spLocks noGrp="1"/>
          </p:cNvSpPr>
          <p:nvPr>
            <p:ph type="pic" idx="4"/>
          </p:nvPr>
        </p:nvSpPr>
        <p:spPr>
          <a:xfrm>
            <a:off x="6765829" y="3429000"/>
            <a:ext cx="685979" cy="9144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56" name="Google Shape;56;p33"/>
          <p:cNvSpPr>
            <a:spLocks noGrp="1"/>
          </p:cNvSpPr>
          <p:nvPr>
            <p:ph type="pic" idx="5"/>
          </p:nvPr>
        </p:nvSpPr>
        <p:spPr>
          <a:xfrm>
            <a:off x="4431812" y="3429000"/>
            <a:ext cx="685979" cy="9144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33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32">
            <a:extLst>
              <a:ext uri="{FF2B5EF4-FFF2-40B4-BE49-F238E27FC236}">
                <a16:creationId xmlns:a16="http://schemas.microsoft.com/office/drawing/2014/main" id="{E44413FF-FE46-2EF2-38E3-2B4542168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3406" y="1905000"/>
            <a:ext cx="0" cy="4572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CA" sz="1293" dirty="0"/>
          </a:p>
        </p:txBody>
      </p:sp>
      <p:sp>
        <p:nvSpPr>
          <p:cNvPr id="51405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1477581" y="1219200"/>
            <a:ext cx="6191769" cy="1143000"/>
          </a:xfrm>
        </p:spPr>
        <p:txBody>
          <a:bodyPr tIns="45720" bIns="45720"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" name="Google Shape;14;p24">
            <a:extLst>
              <a:ext uri="{FF2B5EF4-FFF2-40B4-BE49-F238E27FC236}">
                <a16:creationId xmlns:a16="http://schemas.microsoft.com/office/drawing/2014/main" id="{79E5A079-CD01-8FCC-476F-FBEB0E94F34F}"/>
              </a:ext>
            </a:extLst>
          </p:cNvPr>
          <p:cNvSpPr/>
          <p:nvPr userDrawn="1"/>
        </p:nvSpPr>
        <p:spPr>
          <a:xfrm>
            <a:off x="2" y="6502052"/>
            <a:ext cx="7978725" cy="359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;p24">
            <a:extLst>
              <a:ext uri="{FF2B5EF4-FFF2-40B4-BE49-F238E27FC236}">
                <a16:creationId xmlns:a16="http://schemas.microsoft.com/office/drawing/2014/main" id="{3C2294CA-0612-FC35-B475-A08A209FDF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515861" y="6502055"/>
            <a:ext cx="462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4ACC97-C8E7-D66D-3067-4E8673C5E1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5133" y="6492876"/>
            <a:ext cx="1118871" cy="3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8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>
            <a:spLocks noGrp="1"/>
          </p:cNvSpPr>
          <p:nvPr>
            <p:ph type="title"/>
          </p:nvPr>
        </p:nvSpPr>
        <p:spPr>
          <a:xfrm>
            <a:off x="155579" y="51485"/>
            <a:ext cx="8861423" cy="84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1"/>
          </p:nvPr>
        </p:nvSpPr>
        <p:spPr>
          <a:xfrm>
            <a:off x="155579" y="16478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89" marR="0" lvl="0" indent="-34289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7" marR="0" lvl="1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7512051" y="6492878"/>
            <a:ext cx="466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2"/>
          </p:nvPr>
        </p:nvSpPr>
        <p:spPr>
          <a:xfrm>
            <a:off x="155580" y="973978"/>
            <a:ext cx="8666163" cy="46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7" marR="0" lvl="1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22859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3"/>
          </p:nvPr>
        </p:nvSpPr>
        <p:spPr>
          <a:xfrm>
            <a:off x="155577" y="6115897"/>
            <a:ext cx="7183707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>
            <a:lvl1pPr marL="457189" marR="0" lvl="0" indent="-30479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7" marR="0" lvl="1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4"/>
          </p:nvPr>
        </p:nvSpPr>
        <p:spPr>
          <a:xfrm>
            <a:off x="155580" y="6508719"/>
            <a:ext cx="7124451" cy="38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>
            <a:lvl1pPr marL="457189" marR="0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7" marR="0" lvl="1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559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/>
          <p:nvPr/>
        </p:nvSpPr>
        <p:spPr>
          <a:xfrm>
            <a:off x="0" y="-1"/>
            <a:ext cx="9144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2"/>
          <p:cNvSpPr/>
          <p:nvPr/>
        </p:nvSpPr>
        <p:spPr>
          <a:xfrm>
            <a:off x="0" y="1553864"/>
            <a:ext cx="9144000" cy="343625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2"/>
          <p:cNvSpPr/>
          <p:nvPr/>
        </p:nvSpPr>
        <p:spPr>
          <a:xfrm>
            <a:off x="0" y="1599902"/>
            <a:ext cx="9144000" cy="3344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2"/>
          <p:cNvSpPr txBox="1">
            <a:spLocks noGrp="1"/>
          </p:cNvSpPr>
          <p:nvPr>
            <p:ph type="ctrTitle"/>
          </p:nvPr>
        </p:nvSpPr>
        <p:spPr>
          <a:xfrm>
            <a:off x="107864" y="1848659"/>
            <a:ext cx="8928277" cy="155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subTitle" idx="1"/>
          </p:nvPr>
        </p:nvSpPr>
        <p:spPr>
          <a:xfrm>
            <a:off x="107863" y="3552724"/>
            <a:ext cx="8937664" cy="1165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32"/>
          <p:cNvSpPr/>
          <p:nvPr/>
        </p:nvSpPr>
        <p:spPr>
          <a:xfrm>
            <a:off x="0" y="6512548"/>
            <a:ext cx="9144000" cy="359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2"/>
          <p:cNvSpPr txBox="1">
            <a:spLocks noGrp="1"/>
          </p:cNvSpPr>
          <p:nvPr>
            <p:ph type="sldNum" idx="12"/>
          </p:nvPr>
        </p:nvSpPr>
        <p:spPr>
          <a:xfrm>
            <a:off x="8637564" y="6532835"/>
            <a:ext cx="50643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5"/>
          <p:cNvSpPr txBox="1">
            <a:spLocks noGrp="1"/>
          </p:cNvSpPr>
          <p:nvPr>
            <p:ph type="title"/>
          </p:nvPr>
        </p:nvSpPr>
        <p:spPr>
          <a:xfrm>
            <a:off x="155579" y="25401"/>
            <a:ext cx="8861423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body" idx="1"/>
          </p:nvPr>
        </p:nvSpPr>
        <p:spPr>
          <a:xfrm>
            <a:off x="574677" y="1362076"/>
            <a:ext cx="3908425" cy="492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89" marR="0" lvl="0" indent="-4063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7" marR="0" lvl="1" indent="-3809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3555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2"/>
          </p:nvPr>
        </p:nvSpPr>
        <p:spPr>
          <a:xfrm>
            <a:off x="4635502" y="1362076"/>
            <a:ext cx="3910013" cy="492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89" marR="0" lvl="0" indent="-40639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77" marR="0" lvl="1" indent="-3809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66" marR="0" lvl="2" indent="-3555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54" marR="0" lvl="3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943" marR="0" lvl="4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131" marR="0" lvl="5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320" marR="0" lvl="6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509" marR="0" lvl="7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697" marR="0" lvl="8" indent="-34289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sldNum" idx="12"/>
          </p:nvPr>
        </p:nvSpPr>
        <p:spPr>
          <a:xfrm>
            <a:off x="7515861" y="6502055"/>
            <a:ext cx="462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7515861" y="6502055"/>
            <a:ext cx="462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7978727" y="6502053"/>
            <a:ext cx="1165275" cy="3559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4"/>
          <p:cNvSpPr/>
          <p:nvPr/>
        </p:nvSpPr>
        <p:spPr>
          <a:xfrm>
            <a:off x="28578" y="0"/>
            <a:ext cx="9115423" cy="95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4"/>
          <p:cNvSpPr/>
          <p:nvPr/>
        </p:nvSpPr>
        <p:spPr>
          <a:xfrm>
            <a:off x="0" y="0"/>
            <a:ext cx="127000" cy="952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4"/>
          <p:cNvSpPr txBox="1">
            <a:spLocks noGrp="1"/>
          </p:cNvSpPr>
          <p:nvPr>
            <p:ph type="title"/>
          </p:nvPr>
        </p:nvSpPr>
        <p:spPr>
          <a:xfrm>
            <a:off x="155579" y="25401"/>
            <a:ext cx="8861423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/>
          <p:nvPr/>
        </p:nvSpPr>
        <p:spPr>
          <a:xfrm>
            <a:off x="2" y="6502052"/>
            <a:ext cx="7978725" cy="359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24"/>
          <p:cNvCxnSpPr/>
          <p:nvPr/>
        </p:nvCxnSpPr>
        <p:spPr>
          <a:xfrm>
            <a:off x="7515860" y="6539756"/>
            <a:ext cx="0" cy="2769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7515861" y="6502055"/>
            <a:ext cx="462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Google Shape;17;p24"/>
          <p:cNvSpPr/>
          <p:nvPr/>
        </p:nvSpPr>
        <p:spPr>
          <a:xfrm rot="-5400000" flipH="1">
            <a:off x="7465109" y="4423306"/>
            <a:ext cx="309003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Copyright © 2024 BBA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70C37B-300A-7B5C-FE10-82F230472D2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25133" y="6492876"/>
            <a:ext cx="1118871" cy="374302"/>
          </a:xfrm>
          <a:prstGeom prst="rect">
            <a:avLst/>
          </a:prstGeom>
        </p:spPr>
      </p:pic>
      <p:sp>
        <p:nvSpPr>
          <p:cNvPr id="18" name="Google Shape;25;p25">
            <a:extLst>
              <a:ext uri="{FF2B5EF4-FFF2-40B4-BE49-F238E27FC236}">
                <a16:creationId xmlns:a16="http://schemas.microsoft.com/office/drawing/2014/main" id="{5DF1E98D-E0DD-5148-B024-27E64F5A498D}"/>
              </a:ext>
            </a:extLst>
          </p:cNvPr>
          <p:cNvSpPr/>
          <p:nvPr userDrawn="1"/>
        </p:nvSpPr>
        <p:spPr>
          <a:xfrm>
            <a:off x="107863" y="6601296"/>
            <a:ext cx="482132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sz="1000" b="0" i="0" u="none" strike="noStrike" cap="none" dirty="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6" r:id="rId4"/>
    <p:sldLayoutId id="2147483667" r:id="rId5"/>
    <p:sldLayoutId id="214748366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1"/>
          <p:cNvSpPr/>
          <p:nvPr/>
        </p:nvSpPr>
        <p:spPr>
          <a:xfrm>
            <a:off x="28578" y="0"/>
            <a:ext cx="9115423" cy="95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1"/>
          <p:cNvSpPr/>
          <p:nvPr/>
        </p:nvSpPr>
        <p:spPr>
          <a:xfrm>
            <a:off x="0" y="0"/>
            <a:ext cx="127000" cy="952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1"/>
          <p:cNvSpPr txBox="1">
            <a:spLocks noGrp="1"/>
          </p:cNvSpPr>
          <p:nvPr>
            <p:ph type="title"/>
          </p:nvPr>
        </p:nvSpPr>
        <p:spPr>
          <a:xfrm>
            <a:off x="155579" y="25401"/>
            <a:ext cx="8861423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31"/>
          <p:cNvSpPr/>
          <p:nvPr/>
        </p:nvSpPr>
        <p:spPr>
          <a:xfrm>
            <a:off x="1" y="6502052"/>
            <a:ext cx="7978727" cy="359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31"/>
          <p:cNvCxnSpPr/>
          <p:nvPr/>
        </p:nvCxnSpPr>
        <p:spPr>
          <a:xfrm>
            <a:off x="7515860" y="6539756"/>
            <a:ext cx="0" cy="27697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" name="Google Shape;63;p31"/>
          <p:cNvSpPr txBox="1">
            <a:spLocks noGrp="1"/>
          </p:cNvSpPr>
          <p:nvPr>
            <p:ph type="sldNum" idx="12"/>
          </p:nvPr>
        </p:nvSpPr>
        <p:spPr>
          <a:xfrm>
            <a:off x="7515861" y="6502055"/>
            <a:ext cx="4628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4" name="Google Shape;64;p31"/>
          <p:cNvSpPr/>
          <p:nvPr/>
        </p:nvSpPr>
        <p:spPr>
          <a:xfrm>
            <a:off x="8042279" y="6502055"/>
            <a:ext cx="974723" cy="34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ADD0D0D4-3AEA-014E-A282-8A3233977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24351" y="1"/>
            <a:ext cx="6400800" cy="6493267"/>
          </a:xfrm>
          <a:prstGeom prst="rect">
            <a:avLst/>
          </a:prstGeom>
          <a:noFill/>
        </p:spPr>
      </p:pic>
      <p:sp>
        <p:nvSpPr>
          <p:cNvPr id="85" name="Google Shape;85;p1"/>
          <p:cNvSpPr/>
          <p:nvPr/>
        </p:nvSpPr>
        <p:spPr>
          <a:xfrm>
            <a:off x="2" y="7123"/>
            <a:ext cx="9125151" cy="6486144"/>
          </a:xfrm>
          <a:prstGeom prst="rect">
            <a:avLst/>
          </a:prstGeom>
          <a:solidFill>
            <a:srgbClr val="000000">
              <a:alpha val="419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800"/>
            </a:pPr>
            <a:endParaRPr sz="4800" dirty="0">
              <a:solidFill>
                <a:schemeClr val="lt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246544" y="1746132"/>
            <a:ext cx="9190416" cy="155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Powering the Financial Future: Intelligent Automation for Banks, Insurers, Funds and more</a:t>
            </a:r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28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600" b="0" i="1" dirty="0"/>
              <a:t>Use Cases for Banks, Insurers, Funds and Governmental Organizations</a:t>
            </a:r>
            <a:endParaRPr sz="2800" b="0" i="1" baseline="30000" dirty="0"/>
          </a:p>
        </p:txBody>
      </p:sp>
      <p:sp>
        <p:nvSpPr>
          <p:cNvPr id="87" name="Google Shape;87;p1"/>
          <p:cNvSpPr txBox="1"/>
          <p:nvPr/>
        </p:nvSpPr>
        <p:spPr>
          <a:xfrm>
            <a:off x="246544" y="3846262"/>
            <a:ext cx="171305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200"/>
            </a:pPr>
            <a:r>
              <a:rPr lang="en-US" sz="1200" dirty="0">
                <a:solidFill>
                  <a:schemeClr val="lt1"/>
                </a:solidFill>
              </a:rPr>
              <a:t>Dec.  17, 2025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20BD9B-FD36-4D40-B576-30311D489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77" y="132219"/>
            <a:ext cx="17526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21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CD13-A4DD-90D3-9148-75A1CFD8E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2CA8-CCB6-EF64-7590-2C451EA8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Vision: Transforming Regulatory Burden into Strategic Advantage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E88E35-E76D-50DA-38E1-C4F79C351A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4" descr="Ausriss_quer">
            <a:extLst>
              <a:ext uri="{FF2B5EF4-FFF2-40B4-BE49-F238E27FC236}">
                <a16:creationId xmlns:a16="http://schemas.microsoft.com/office/drawing/2014/main" id="{B548D163-4185-B686-8C73-2B67B610593E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92125" y="1193801"/>
            <a:ext cx="7974013" cy="13589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F90BC8-6506-784D-2C1B-3980C84EA497}"/>
              </a:ext>
            </a:extLst>
          </p:cNvPr>
          <p:cNvSpPr txBox="1"/>
          <p:nvPr/>
        </p:nvSpPr>
        <p:spPr>
          <a:xfrm>
            <a:off x="652462" y="1463536"/>
            <a:ext cx="76533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accelerate </a:t>
            </a:r>
            <a:r>
              <a:rPr lang="en-US" b="1" dirty="0"/>
              <a:t>resilience </a:t>
            </a:r>
            <a:r>
              <a:rPr lang="en-US" dirty="0"/>
              <a:t>by deploying a transformative, automated data platform for the entire financial ecosystem—</a:t>
            </a:r>
            <a:r>
              <a:rPr lang="en-US" b="1" dirty="0"/>
              <a:t>including banks, insurers, funds, and more...</a:t>
            </a:r>
            <a:endParaRPr lang="en-CA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E16B92-B239-541D-1CB3-74B94838F4A7}"/>
              </a:ext>
            </a:extLst>
          </p:cNvPr>
          <p:cNvSpPr txBox="1"/>
          <p:nvPr/>
        </p:nvSpPr>
        <p:spPr>
          <a:xfrm>
            <a:off x="421802" y="2984064"/>
            <a:ext cx="83289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Opportunity for Your Institution: </a:t>
            </a:r>
            <a:r>
              <a:rPr lang="en-US" dirty="0"/>
              <a:t>A data technology solution that provides a single source of truth, enabling seamless oversight and fostering a competitive, innovative, and stable financial sector.</a:t>
            </a:r>
          </a:p>
          <a:p>
            <a:endParaRPr lang="en-US" b="1" dirty="0"/>
          </a:p>
          <a:p>
            <a:r>
              <a:rPr lang="en-US" b="1" dirty="0"/>
              <a:t>Key Outcomes: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Gain a 360° view of your risk and exposure.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Move from reactive compliance to proactive strategy with predictive insights.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Reduce compliance costs by over 50% and reallocate resources to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 defensible, in-house data advantage.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9C90A3E9-9B3A-1B98-E2D9-6D9F11889D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5788" y="5394464"/>
            <a:ext cx="7967662" cy="919024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marL="68262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400" b="1" dirty="0">
                <a:solidFill>
                  <a:srgbClr val="3F3F3F"/>
                </a:solidFill>
              </a:rPr>
              <a:t>We empower institutions to navigate uncertainty and regulatory complexity with AI-driven precision.</a:t>
            </a:r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F2074F26-229A-95B5-0AB0-0889059AB8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1500" y="5394464"/>
            <a:ext cx="533400" cy="919024"/>
          </a:xfrm>
          <a:prstGeom prst="homePlate">
            <a:avLst>
              <a:gd name="adj" fmla="val 25000"/>
            </a:avLst>
          </a:prstGeom>
          <a:solidFill>
            <a:schemeClr val="accent5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45720" rIns="45720"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27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71A7B-AB1C-149F-15B0-5862010D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Platform, Endless Possibilities: Powering the Entire Ecosystem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CE1D50-6A87-A71E-2518-F830923339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1EEDB53-25BB-23F0-32D1-2068A25F09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06180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08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94F4-AA63-0615-D70E-0CFE991E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BBA Intelligent Data Platform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925226-3802-CFEB-4FD8-15DB572C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B97B64-EB18-5234-008D-316D420D9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098820"/>
              </p:ext>
            </p:extLst>
          </p:nvPr>
        </p:nvGraphicFramePr>
        <p:xfrm>
          <a:off x="155577" y="1075832"/>
          <a:ext cx="8861424" cy="4693624"/>
        </p:xfrm>
        <a:graphic>
          <a:graphicData uri="http://schemas.openxmlformats.org/drawingml/2006/table">
            <a:tbl>
              <a:tblPr/>
              <a:tblGrid>
                <a:gridCol w="2953808">
                  <a:extLst>
                    <a:ext uri="{9D8B030D-6E8A-4147-A177-3AD203B41FA5}">
                      <a16:colId xmlns:a16="http://schemas.microsoft.com/office/drawing/2014/main" val="2123859936"/>
                    </a:ext>
                  </a:extLst>
                </a:gridCol>
                <a:gridCol w="2953808">
                  <a:extLst>
                    <a:ext uri="{9D8B030D-6E8A-4147-A177-3AD203B41FA5}">
                      <a16:colId xmlns:a16="http://schemas.microsoft.com/office/drawing/2014/main" val="1868543818"/>
                    </a:ext>
                  </a:extLst>
                </a:gridCol>
                <a:gridCol w="2953808">
                  <a:extLst>
                    <a:ext uri="{9D8B030D-6E8A-4147-A177-3AD203B41FA5}">
                      <a16:colId xmlns:a16="http://schemas.microsoft.com/office/drawing/2014/main" val="2646439967"/>
                    </a:ext>
                  </a:extLst>
                </a:gridCol>
              </a:tblGrid>
              <a:tr h="22208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Solution</a:t>
                      </a:r>
                      <a:endParaRPr lang="en-CA" sz="14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33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Key Features</a:t>
                      </a:r>
                      <a:endParaRPr lang="en-CA" sz="14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11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Sector Applications</a:t>
                      </a:r>
                      <a:endParaRPr lang="en-CA" sz="14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11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95781"/>
                  </a:ext>
                </a:extLst>
              </a:tr>
              <a:tr h="13493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🎯 Strategic Command Center 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br>
                        <a:rPr lang="en-US" sz="1400" b="0" dirty="0">
                          <a:effectLst/>
                          <a:latin typeface="+mn-lt"/>
                        </a:rPr>
                      </a:br>
                      <a:endParaRPr lang="en-US" sz="1400" b="0" dirty="0">
                        <a:effectLst/>
                        <a:latin typeface="+mn-lt"/>
                      </a:endParaRPr>
                    </a:p>
                  </a:txBody>
                  <a:tcPr marL="533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ts val="18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effectLst/>
                          <a:latin typeface="+mn-lt"/>
                        </a:rPr>
                        <a:t>AI-generated plans &amp; competitive benchmarking</a:t>
                      </a:r>
                    </a:p>
                    <a:p>
                      <a:pPr marL="285750" indent="-285750">
                        <a:lnSpc>
                          <a:spcPts val="1875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400" b="0" dirty="0">
                        <a:effectLst/>
                        <a:latin typeface="+mn-lt"/>
                      </a:endParaRPr>
                    </a:p>
                  </a:txBody>
                  <a:tcPr marL="711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400" b="1" dirty="0">
                          <a:effectLst/>
                          <a:latin typeface="+mn-lt"/>
                        </a:rPr>
                        <a:t>🏦 Banks</a:t>
                      </a:r>
                      <a:br>
                        <a:rPr lang="en-CA" sz="1400" b="0" dirty="0">
                          <a:effectLst/>
                          <a:latin typeface="+mn-lt"/>
                        </a:rPr>
                      </a:br>
                      <a:r>
                        <a:rPr lang="en-CA" sz="1400" b="1" dirty="0">
                          <a:effectLst/>
                          <a:latin typeface="+mn-lt"/>
                        </a:rPr>
                        <a:t>🛡️ Insurers</a:t>
                      </a:r>
                      <a:br>
                        <a:rPr lang="en-CA" sz="1400" b="0" dirty="0">
                          <a:effectLst/>
                          <a:latin typeface="+mn-lt"/>
                        </a:rPr>
                      </a:br>
                      <a:r>
                        <a:rPr lang="en-CA" sz="1400" b="1" dirty="0">
                          <a:effectLst/>
                          <a:latin typeface="+mn-lt"/>
                        </a:rPr>
                        <a:t>📊 Funds</a:t>
                      </a:r>
                    </a:p>
                  </a:txBody>
                  <a:tcPr marL="71197" marR="533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13674"/>
                  </a:ext>
                </a:extLst>
              </a:tr>
              <a:tr h="13493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🛡️ Risk Advisor </a:t>
                      </a:r>
                      <a:br>
                        <a:rPr lang="en-CA" sz="1400" b="0" dirty="0">
                          <a:effectLst/>
                          <a:latin typeface="+mn-lt"/>
                        </a:rPr>
                      </a:br>
                      <a:endParaRPr lang="en-CA" sz="1400" b="0" dirty="0">
                        <a:effectLst/>
                        <a:latin typeface="+mn-lt"/>
                      </a:endParaRPr>
                    </a:p>
                  </a:txBody>
                  <a:tcPr marL="533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ts val="18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effectLst/>
                          <a:latin typeface="+mn-lt"/>
                        </a:rPr>
                        <a:t>Early warning systems &amp; real-time monitoring</a:t>
                      </a:r>
                    </a:p>
                  </a:txBody>
                  <a:tcPr marL="711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🏦 Banks: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 ROE, NII Growth</a:t>
                      </a:r>
                      <a:br>
                        <a:rPr lang="en-US" sz="1400" b="0" dirty="0">
                          <a:effectLst/>
                          <a:latin typeface="+mn-lt"/>
                        </a:rPr>
                      </a:br>
                      <a:r>
                        <a:rPr lang="en-US" sz="1400" b="1" dirty="0">
                          <a:effectLst/>
                          <a:latin typeface="+mn-lt"/>
                        </a:rPr>
                        <a:t>🛡️ Insurers: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 Combined Ratio</a:t>
                      </a:r>
                      <a:br>
                        <a:rPr lang="en-US" sz="1400" b="0" dirty="0">
                          <a:effectLst/>
                          <a:latin typeface="+mn-lt"/>
                        </a:rPr>
                      </a:br>
                      <a:r>
                        <a:rPr lang="en-US" sz="1400" b="1" dirty="0">
                          <a:effectLst/>
                          <a:latin typeface="+mn-lt"/>
                        </a:rPr>
                        <a:t>📊 Funds: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 AUM Growth, IRR</a:t>
                      </a:r>
                      <a:br>
                        <a:rPr lang="en-US" sz="1400" b="0" dirty="0">
                          <a:effectLst/>
                          <a:latin typeface="+mn-lt"/>
                        </a:rPr>
                      </a:br>
                      <a:r>
                        <a:rPr lang="en-US" sz="1400" b="1" dirty="0">
                          <a:effectLst/>
                          <a:latin typeface="+mn-lt"/>
                        </a:rPr>
                        <a:t>👁️ Supervisors: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 Stability Index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+mn-lt"/>
                        </a:rPr>
                        <a:t>🏛️ </a:t>
                      </a:r>
                      <a:r>
                        <a:rPr lang="en-US" sz="1400" b="1" dirty="0">
                          <a:effectLst/>
                          <a:latin typeface="+mn-lt"/>
                        </a:rPr>
                        <a:t>Governmental Organizations: </a:t>
                      </a:r>
                      <a:r>
                        <a:rPr lang="en-US" sz="1400" b="0" dirty="0">
                          <a:effectLst/>
                          <a:latin typeface="+mn-lt"/>
                        </a:rPr>
                        <a:t>Service delivery KPIS</a:t>
                      </a:r>
                    </a:p>
                  </a:txBody>
                  <a:tcPr marL="71197" marR="533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941106"/>
                  </a:ext>
                </a:extLst>
              </a:tr>
              <a:tr h="78572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  <a:latin typeface="+mn-lt"/>
                        </a:rPr>
                        <a:t>⚖️ Compliance Co-Pilot </a:t>
                      </a:r>
                      <a:br>
                        <a:rPr lang="en-US" sz="1400" b="0" dirty="0">
                          <a:effectLst/>
                          <a:latin typeface="+mn-lt"/>
                        </a:rPr>
                      </a:br>
                      <a:endParaRPr lang="en-US" sz="1400" b="0" dirty="0">
                        <a:effectLst/>
                        <a:latin typeface="+mn-lt"/>
                      </a:endParaRPr>
                    </a:p>
                  </a:txBody>
                  <a:tcPr marL="533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ts val="1875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effectLst/>
                          <a:latin typeface="+mn-lt"/>
                        </a:rPr>
                        <a:t>Automated reporting &amp; audit trails</a:t>
                      </a:r>
                    </a:p>
                  </a:txBody>
                  <a:tcPr marL="71197" marR="711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400" b="1" dirty="0">
                          <a:effectLst/>
                          <a:latin typeface="+mn-lt"/>
                        </a:rPr>
                        <a:t>🏦 Banks:</a:t>
                      </a:r>
                      <a:r>
                        <a:rPr lang="en-CA" sz="1400" b="0" dirty="0">
                          <a:effectLst/>
                          <a:latin typeface="+mn-lt"/>
                        </a:rPr>
                        <a:t> LCR, NSFR, ICAAP</a:t>
                      </a:r>
                      <a:br>
                        <a:rPr lang="en-CA" sz="1400" b="0" dirty="0">
                          <a:effectLst/>
                          <a:latin typeface="+mn-lt"/>
                        </a:rPr>
                      </a:br>
                      <a:r>
                        <a:rPr lang="en-CA" sz="1400" b="1" dirty="0">
                          <a:effectLst/>
                          <a:latin typeface="+mn-lt"/>
                        </a:rPr>
                        <a:t>🛡️ Insurers:</a:t>
                      </a:r>
                      <a:r>
                        <a:rPr lang="en-CA" sz="1400" b="0" dirty="0">
                          <a:effectLst/>
                          <a:latin typeface="+mn-lt"/>
                        </a:rPr>
                        <a:t> Solvency II, IFRS 17</a:t>
                      </a:r>
                      <a:br>
                        <a:rPr lang="en-CA" sz="1400" b="0" dirty="0">
                          <a:effectLst/>
                          <a:latin typeface="+mn-lt"/>
                        </a:rPr>
                      </a:br>
                      <a:r>
                        <a:rPr lang="en-CA" sz="1400" b="1" dirty="0">
                          <a:effectLst/>
                          <a:latin typeface="+mn-lt"/>
                        </a:rPr>
                        <a:t>📊 Funds:</a:t>
                      </a:r>
                      <a:r>
                        <a:rPr lang="en-CA" sz="1400" b="0" dirty="0">
                          <a:effectLst/>
                          <a:latin typeface="+mn-lt"/>
                        </a:rPr>
                        <a:t> UCITS, AIF, Performance Reports</a:t>
                      </a:r>
                      <a:br>
                        <a:rPr lang="en-CA" sz="1400" b="0" dirty="0">
                          <a:effectLst/>
                          <a:latin typeface="+mn-lt"/>
                        </a:rPr>
                      </a:br>
                      <a:r>
                        <a:rPr lang="en-CA" sz="1400" b="1" dirty="0">
                          <a:effectLst/>
                          <a:latin typeface="+mn-lt"/>
                        </a:rPr>
                        <a:t>👁️ Supervisors:</a:t>
                      </a:r>
                      <a:r>
                        <a:rPr lang="en-CA" sz="1400" b="0" dirty="0">
                          <a:effectLst/>
                          <a:latin typeface="+mn-lt"/>
                        </a:rPr>
                        <a:t> </a:t>
                      </a:r>
                      <a:r>
                        <a:rPr lang="en-CA" sz="1400" b="0" dirty="0" err="1">
                          <a:effectLst/>
                          <a:latin typeface="+mn-lt"/>
                        </a:rPr>
                        <a:t>SupTech</a:t>
                      </a:r>
                      <a:r>
                        <a:rPr lang="en-CA" sz="1400" b="0" dirty="0">
                          <a:effectLst/>
                          <a:latin typeface="+mn-lt"/>
                        </a:rPr>
                        <a:t> Dashboards</a:t>
                      </a:r>
                    </a:p>
                  </a:txBody>
                  <a:tcPr marL="71197" marR="53397" marT="44498" marB="4449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55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57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44FBA1B-9367-082C-27B3-C3F97E39DE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77582" y="1219200"/>
            <a:ext cx="6191769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Agenda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4DCDFFB-D785-4057-256F-4C22EA673AE7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46476" y="2197682"/>
            <a:ext cx="6191769" cy="2462635"/>
          </a:xfrm>
        </p:spPr>
        <p:txBody>
          <a:bodyPr/>
          <a:lstStyle/>
          <a:p>
            <a:r>
              <a:rPr lang="en-US" altLang="en-US" b="1" i="1" dirty="0"/>
              <a:t>Use Cases</a:t>
            </a:r>
          </a:p>
          <a:p>
            <a:r>
              <a:rPr lang="en-US" altLang="en-US" dirty="0"/>
              <a:t>Engagement Options &amp; Approach</a:t>
            </a:r>
          </a:p>
          <a:p>
            <a:r>
              <a:rPr lang="en-US" altLang="en-US" dirty="0"/>
              <a:t>Key Deliverables &amp; Benefits</a:t>
            </a:r>
          </a:p>
          <a:p>
            <a:r>
              <a:rPr lang="en-US" altLang="en-US" dirty="0"/>
              <a:t>Tech Stack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8EBFC25C-A11C-D0DB-8B09-E99C4C73D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476" y="2149633"/>
            <a:ext cx="6051047" cy="1143000"/>
          </a:xfrm>
          <a:prstGeom prst="rect">
            <a:avLst/>
          </a:prstGeom>
          <a:noFill/>
          <a:ln w="28575">
            <a:solidFill>
              <a:srgbClr val="0B1F6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6E2D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GB" altLang="en-US" sz="110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3CE5-59DE-265C-66A9-9D036272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E032-D4B0-4FF9-FD83-9BF730B6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💬 Strategic Command Center | Guaranteed 3:1 ROI</a:t>
            </a:r>
            <a:br>
              <a:rPr lang="en-US" sz="2400" dirty="0"/>
            </a:br>
            <a:r>
              <a:rPr lang="en-US" sz="2400" dirty="0"/>
              <a:t>Use case: </a:t>
            </a:r>
            <a:r>
              <a:rPr lang="en-CA" b="0" dirty="0"/>
              <a:t>Brand Positioning, Peer Analysis of Loan Loss Provisioning, Funding, Rate Ladder and AI Strategic Advisor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02A584-8526-DF60-154B-27196B5BD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5C0FA7-B10A-579D-CE8E-0EE813E800B1}"/>
              </a:ext>
            </a:extLst>
          </p:cNvPr>
          <p:cNvSpPr txBox="1"/>
          <p:nvPr/>
        </p:nvSpPr>
        <p:spPr>
          <a:xfrm>
            <a:off x="126997" y="927101"/>
            <a:ext cx="90170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 today's digital world, a FI's reputation is its most valuable asset - and its most vulnerable. Traditional brand tracking is slow and expensive, leaving you reactive to negative trends on platforms like Google.</a:t>
            </a:r>
            <a:endParaRPr lang="en-CA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595B70-4E2E-60DC-4606-7A7B9264D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226968"/>
              </p:ext>
            </p:extLst>
          </p:nvPr>
        </p:nvGraphicFramePr>
        <p:xfrm>
          <a:off x="368296" y="2009776"/>
          <a:ext cx="8420828" cy="4028440"/>
        </p:xfrm>
        <a:graphic>
          <a:graphicData uri="http://schemas.openxmlformats.org/drawingml/2006/table">
            <a:tbl>
              <a:tblPr firstRow="1" bandRow="1">
                <a:tableStyleId>{60320F05-05AD-4D9C-89D9-953A5AB4501F}</a:tableStyleId>
              </a:tblPr>
              <a:tblGrid>
                <a:gridCol w="2403479">
                  <a:extLst>
                    <a:ext uri="{9D8B030D-6E8A-4147-A177-3AD203B41FA5}">
                      <a16:colId xmlns:a16="http://schemas.microsoft.com/office/drawing/2014/main" val="3094184380"/>
                    </a:ext>
                  </a:extLst>
                </a:gridCol>
                <a:gridCol w="6017349">
                  <a:extLst>
                    <a:ext uri="{9D8B030D-6E8A-4147-A177-3AD203B41FA5}">
                      <a16:colId xmlns:a16="http://schemas.microsoft.com/office/drawing/2014/main" val="3346847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Capability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Key Deliverables: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921602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en-US" dirty="0"/>
                        <a:t>Our platform integrates with public data sources to provide a real-time, quantified view of your brand's health, market share, positioning, transforming subjective perception into actionable data.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Real-Time Sentiment Dashboard: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Track positive, negative, and neutral mention volume across key platforms.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122985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Competitive Benchmarking: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Compare your ECL, balance sheet funding and rate ladder with peers.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your relative strengths and weaknesses.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684591"/>
                  </a:ext>
                </a:extLst>
              </a:tr>
              <a:tr h="476249">
                <a:tc vMerge="1"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Macroeconomic Scenarios: </a:t>
                      </a:r>
                    </a:p>
                    <a:p>
                      <a:pPr marL="285750" marR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Forward looking base and stress cases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3277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Strategic Goals Re-calibration: </a:t>
                      </a:r>
                    </a:p>
                    <a:p>
                      <a:pPr marL="285750" marR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Increase Return on Equity (ROE) by 50-150 bps</a:t>
                      </a:r>
                    </a:p>
                    <a:p>
                      <a:pPr marL="285750" marR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Grow Non-Interest Income by 5-15%</a:t>
                      </a:r>
                    </a:p>
                    <a:p>
                      <a:pPr marL="285750" marR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Reduce Cost-to-Income Ratio by 5-10%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7457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Strategic Advisory: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Automatically flag emerging crises, complaint trends (e.g., "long wait times," "mobile app login issues"), and operational enhancements.</a:t>
                      </a:r>
                      <a:r>
                        <a:rPr lang="en-CA" dirty="0"/>
                        <a:t>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9040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283ED9-B852-E6C5-F401-5ED19039DC35}"/>
              </a:ext>
            </a:extLst>
          </p:cNvPr>
          <p:cNvSpPr txBox="1"/>
          <p:nvPr/>
        </p:nvSpPr>
        <p:spPr>
          <a:xfrm>
            <a:off x="126996" y="1664880"/>
            <a:ext cx="8648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Solution: Strategic Command Center – Strategic Advisory based on Publicly Available Data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29710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C4A1A-2F9F-7E00-7163-4FC5697E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AEC3-7BDE-6071-7411-454201FB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📊</a:t>
            </a:r>
            <a:r>
              <a:rPr lang="en-US" sz="2400" dirty="0"/>
              <a:t> </a:t>
            </a:r>
            <a:r>
              <a:rPr lang="en-US" dirty="0"/>
              <a:t>Risk Advisor | Guaranteed 5:1 ROI</a:t>
            </a:r>
            <a:br>
              <a:rPr lang="en-US" dirty="0"/>
            </a:br>
            <a:r>
              <a:rPr lang="en-US" b="0" dirty="0"/>
              <a:t>Investment Banks Use Case</a:t>
            </a:r>
            <a:endParaRPr lang="en-CA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E25293-E7B3-6C53-759B-81F9B60CE9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7B61B71-BEA2-370A-83D0-E500E56E4C6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29194" y="1643859"/>
            <a:ext cx="3956042" cy="3806824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/>
          <a:lstStyle/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Single Source of Truth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A unified view of risk and performance across both liquid and complex illiquid assets, eliminating data silos.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Enhanced Transparency &amp; Drill-Through: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Automated, granular exposure tracking for opaque assets like Structured Products and Real Estate.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Data-Driven Capital Allocation &amp; Pricing: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Accurate, timely data on Sukuk yields, public equity performance, and private equity valuations.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Streamlined Regulatory Reporting: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Efficient, auditable data lineage for IFRS 9 ECL, LCR/NSFR, and ICAAP calculations directly from the portfolio data hub.</a:t>
            </a:r>
          </a:p>
        </p:txBody>
      </p:sp>
      <p:sp>
        <p:nvSpPr>
          <p:cNvPr id="9" name="Rounded Rectangle 19">
            <a:extLst>
              <a:ext uri="{FF2B5EF4-FFF2-40B4-BE49-F238E27FC236}">
                <a16:creationId xmlns:a16="http://schemas.microsoft.com/office/drawing/2014/main" id="{AB07964C-742B-D87D-BA5F-B7836B198030}"/>
              </a:ext>
            </a:extLst>
          </p:cNvPr>
          <p:cNvSpPr/>
          <p:nvPr/>
        </p:nvSpPr>
        <p:spPr bwMode="auto">
          <a:xfrm>
            <a:off x="4927605" y="1139033"/>
            <a:ext cx="3959053" cy="504825"/>
          </a:xfrm>
          <a:prstGeom prst="roundRect">
            <a:avLst/>
          </a:prstGeom>
          <a:solidFill>
            <a:srgbClr val="54616E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72000" bIns="72000" anchor="ctr"/>
          <a:lstStyle/>
          <a:p>
            <a:pPr defTabSz="979488" eaLnBrk="0" fontAlgn="base" hangingPunct="0">
              <a:spcBef>
                <a:spcPct val="0"/>
              </a:spcBef>
              <a:spcAft>
                <a:spcPct val="0"/>
              </a:spcAft>
              <a:buClr>
                <a:srgbClr val="3F3F3F"/>
              </a:buClr>
            </a:pPr>
            <a:r>
              <a:rPr lang="en-US" sz="1200" b="1" kern="1200" dirty="0">
                <a:solidFill>
                  <a:srgbClr val="F8F8F8"/>
                </a:solidFill>
                <a:latin typeface="Arial" charset="0"/>
                <a:ea typeface="+mn-ea"/>
                <a:cs typeface="+mn-cs"/>
              </a:rPr>
              <a:t>Key Deliverables &amp; Strategic Advantages</a:t>
            </a:r>
            <a:endParaRPr lang="en-US" sz="1200" b="1" i="1" kern="1200" dirty="0">
              <a:solidFill>
                <a:srgbClr val="F8F8F8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8AE3DCF-DFB8-0803-B260-18661179446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3037" y="1643859"/>
            <a:ext cx="3907862" cy="3806824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/>
          <a:lstStyle/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Our automated platform consolidates data for a complete, multi-asset class view, providing a single source of truth for the entire portfolio.</a:t>
            </a:r>
          </a:p>
          <a:p>
            <a:pPr marL="571500" lvl="1" indent="-231775" defTabSz="979488" eaLnBrk="0" fontAlgn="base" hangingPunct="0"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Digital Assets: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One platform, every asset class: from traditional to digital.</a:t>
            </a:r>
          </a:p>
          <a:p>
            <a:pPr marL="571500" lvl="1" indent="-231775" defTabSz="979488" eaLnBrk="0" fontAlgn="base" hangingPunct="0"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Fixed Income &amp; Sukuks: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Sovereign &amp; Corporate Bonds, Sukuks</a:t>
            </a:r>
          </a:p>
          <a:p>
            <a:pPr marL="571500" lvl="1" indent="-231775" defTabSz="979488" eaLnBrk="0" fontAlgn="base" hangingPunct="0"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Public Equities: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Listed Equities &amp; ETFs</a:t>
            </a:r>
          </a:p>
          <a:p>
            <a:pPr marL="571500" lvl="1" indent="-231775" defTabSz="979488" eaLnBrk="0" fontAlgn="base" hangingPunct="0"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Real Assets: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Direct &amp; Fund-based Real Estate Investments</a:t>
            </a:r>
          </a:p>
          <a:p>
            <a:pPr marL="571500" lvl="1" indent="-231775" defTabSz="979488" eaLnBrk="0" fontAlgn="base" hangingPunct="0"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Structured Products: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ABS, MBS, and other bespoke instruments</a:t>
            </a:r>
          </a:p>
          <a:p>
            <a:pPr marL="571500" lvl="1" indent="-231775" defTabSz="979488" eaLnBrk="0" fontAlgn="base" hangingPunct="0"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Alternatives: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Private Equity, Venture Capital, Hedge Funds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Rounded Rectangle 19">
            <a:extLst>
              <a:ext uri="{FF2B5EF4-FFF2-40B4-BE49-F238E27FC236}">
                <a16:creationId xmlns:a16="http://schemas.microsoft.com/office/drawing/2014/main" id="{4A495B99-E2E5-5562-C2FF-AFD038E96929}"/>
              </a:ext>
            </a:extLst>
          </p:cNvPr>
          <p:cNvSpPr/>
          <p:nvPr/>
        </p:nvSpPr>
        <p:spPr bwMode="auto">
          <a:xfrm>
            <a:off x="388474" y="1139033"/>
            <a:ext cx="3910836" cy="504825"/>
          </a:xfrm>
          <a:prstGeom prst="roundRect">
            <a:avLst/>
          </a:prstGeom>
          <a:solidFill>
            <a:schemeClr val="accent2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defTabSz="979488" eaLnBrk="0" fontAlgn="base" hangingPunct="0">
              <a:spcBef>
                <a:spcPct val="0"/>
              </a:spcBef>
              <a:spcAft>
                <a:spcPct val="0"/>
              </a:spcAft>
              <a:buClr>
                <a:srgbClr val="3F3F3F"/>
              </a:buClr>
            </a:pPr>
            <a:r>
              <a:rPr lang="en-US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Comprehensive Portfolio Data Origination</a:t>
            </a:r>
            <a:endParaRPr lang="en-US" sz="1200" i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099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A47B-16BA-B623-902A-DF4A69E6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🏦 </a:t>
            </a:r>
            <a:r>
              <a:rPr lang="en-US" dirty="0"/>
              <a:t>Compliance Co-Pilot | Guaranteed 7:1 ROI </a:t>
            </a:r>
            <a:br>
              <a:rPr lang="en-US" dirty="0"/>
            </a:br>
            <a:r>
              <a:rPr lang="en-US" b="0" dirty="0"/>
              <a:t>Commercial Banks Use Case</a:t>
            </a:r>
            <a:endParaRPr lang="en-CA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0CBF9-7961-AFBE-D400-6BA1E92EE5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180E17-E22A-C977-877C-BC378D96EB5F}"/>
              </a:ext>
            </a:extLst>
          </p:cNvPr>
          <p:cNvSpPr/>
          <p:nvPr/>
        </p:nvSpPr>
        <p:spPr>
          <a:xfrm>
            <a:off x="1019972" y="1957387"/>
            <a:ext cx="7276301" cy="428625"/>
          </a:xfrm>
          <a:prstGeom prst="rect">
            <a:avLst/>
          </a:prstGeom>
          <a:noFill/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/>
          <a:p>
            <a:pPr algn="ctr">
              <a:tabLst>
                <a:tab pos="517525" algn="r"/>
              </a:tabLst>
            </a:pPr>
            <a:r>
              <a:rPr lang="en-US" sz="1200" b="1" dirty="0">
                <a:solidFill>
                  <a:srgbClr val="3F3F3F"/>
                </a:solidFill>
                <a:latin typeface="Arial" panose="020B0604020202020204" pitchFamily="34" charset="0"/>
                <a:cs typeface="Arial"/>
              </a:rPr>
              <a:t>Data Wall: </a:t>
            </a:r>
            <a:r>
              <a:rPr lang="en-CA" dirty="0"/>
              <a:t>Centralized Data Foundation</a:t>
            </a:r>
            <a:endParaRPr lang="en-CA" sz="1200" b="1" dirty="0">
              <a:solidFill>
                <a:srgbClr val="3F3F3F"/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3DD8C5-F892-D171-5FD5-CA01726397E7}"/>
              </a:ext>
            </a:extLst>
          </p:cNvPr>
          <p:cNvCxnSpPr/>
          <p:nvPr/>
        </p:nvCxnSpPr>
        <p:spPr>
          <a:xfrm>
            <a:off x="4476750" y="1607939"/>
            <a:ext cx="0" cy="311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755D49-04BA-3370-0AA6-593D50AB23A6}"/>
              </a:ext>
            </a:extLst>
          </p:cNvPr>
          <p:cNvCxnSpPr/>
          <p:nvPr/>
        </p:nvCxnSpPr>
        <p:spPr>
          <a:xfrm>
            <a:off x="4772025" y="1607939"/>
            <a:ext cx="0" cy="311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913F1B-00AA-1102-8EEE-0895D00B42C4}"/>
              </a:ext>
            </a:extLst>
          </p:cNvPr>
          <p:cNvCxnSpPr/>
          <p:nvPr/>
        </p:nvCxnSpPr>
        <p:spPr>
          <a:xfrm>
            <a:off x="5010150" y="1607939"/>
            <a:ext cx="0" cy="311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19EDF8D-DA1E-77F9-D58E-374FA855DB43}"/>
              </a:ext>
            </a:extLst>
          </p:cNvPr>
          <p:cNvSpPr/>
          <p:nvPr/>
        </p:nvSpPr>
        <p:spPr>
          <a:xfrm>
            <a:off x="1019971" y="1079302"/>
            <a:ext cx="7276301" cy="428625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>
              <a:tabLst>
                <a:tab pos="517525" algn="r"/>
              </a:tabLst>
            </a:pPr>
            <a:r>
              <a:rPr lang="en-US" sz="1200" b="1" dirty="0">
                <a:solidFill>
                  <a:srgbClr val="3F3F3F"/>
                </a:solidFill>
                <a:latin typeface="Arial" panose="020B0604020202020204" pitchFamily="34" charset="0"/>
                <a:cs typeface="Arial"/>
              </a:rPr>
              <a:t>Data Origination: </a:t>
            </a:r>
            <a:r>
              <a:rPr lang="en-CA" dirty="0"/>
              <a:t>Automated Data Lineage</a:t>
            </a:r>
            <a:endParaRPr lang="en-CA" sz="1200" b="1" dirty="0">
              <a:solidFill>
                <a:srgbClr val="3F3F3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0AE93AAA-01AE-55B9-F7D9-61BAA5F298B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19972" y="3825734"/>
            <a:ext cx="3590128" cy="5080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>
            <a:lvl1pPr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3F3F3F"/>
                </a:solidFill>
              </a:rPr>
              <a:t>Liquidity Coverage Ratio</a:t>
            </a: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9F95275C-3FBB-D34C-48F9-CD02C39958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72025" y="3821634"/>
            <a:ext cx="3524250" cy="5080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>
            <a:lvl1pPr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3F3F3F"/>
                </a:solidFill>
              </a:rPr>
              <a:t>Net Cumulative Cash Flow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B607BA8-E26F-D331-85EB-F619816D301B}"/>
              </a:ext>
            </a:extLst>
          </p:cNvPr>
          <p:cNvGrpSpPr/>
          <p:nvPr/>
        </p:nvGrpSpPr>
        <p:grpSpPr>
          <a:xfrm>
            <a:off x="1019972" y="4484500"/>
            <a:ext cx="7276301" cy="865625"/>
            <a:chOff x="981872" y="3913140"/>
            <a:chExt cx="7966075" cy="518790"/>
          </a:xfrm>
          <a:noFill/>
        </p:grpSpPr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7EFA4C90-A099-8038-F506-6EBFD340A0A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81872" y="3913140"/>
              <a:ext cx="1206500" cy="508000"/>
            </a:xfrm>
            <a:prstGeom prst="rect">
              <a:avLst/>
            </a:prstGeom>
            <a:grpFill/>
            <a:ln w="9525" algn="ctr">
              <a:solidFill>
                <a:schemeClr val="accent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/>
            <a:lstStyle>
              <a:lvl1pPr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050" b="1" dirty="0"/>
                <a:t>BCAR (Basel Capital Adequacy Ratio)</a:t>
              </a: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00986E6B-7880-8444-4212-567FC3A4E10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37935" y="3923930"/>
              <a:ext cx="1204912" cy="508000"/>
            </a:xfrm>
            <a:prstGeom prst="rect">
              <a:avLst/>
            </a:prstGeom>
            <a:grpFill/>
            <a:ln w="9525" algn="ctr">
              <a:solidFill>
                <a:schemeClr val="accent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/>
            <a:lstStyle>
              <a:lvl1pPr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050" b="1" dirty="0"/>
                <a:t>NSFR (Net Stable Funding Ratio) /Model Risk</a:t>
              </a: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40807E19-A768-34CC-B56A-AE3384CBD3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32835" y="3919591"/>
              <a:ext cx="1206500" cy="508000"/>
            </a:xfrm>
            <a:prstGeom prst="rect">
              <a:avLst/>
            </a:prstGeom>
            <a:grpFill/>
            <a:ln w="9525" algn="ctr">
              <a:solidFill>
                <a:schemeClr val="accent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/>
            <a:lstStyle>
              <a:lvl1pPr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050" b="1" dirty="0"/>
                <a:t>Market Risk</a:t>
              </a: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F8C7B5FC-9C9C-720B-2A34-703701CD6E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387310" y="3923930"/>
              <a:ext cx="1206500" cy="508000"/>
            </a:xfrm>
            <a:prstGeom prst="rect">
              <a:avLst/>
            </a:prstGeom>
            <a:grpFill/>
            <a:ln w="9525" algn="ctr">
              <a:solidFill>
                <a:schemeClr val="accent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/>
            <a:lstStyle>
              <a:lvl1pPr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050" b="1" dirty="0"/>
                <a:t>ECL (Expected Credit Loss) /IFRS 9</a:t>
              </a: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3F0DDF08-920B-0007-243D-BDA2DE859C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741447" y="3923930"/>
              <a:ext cx="1206500" cy="508000"/>
            </a:xfrm>
            <a:prstGeom prst="rect">
              <a:avLst/>
            </a:prstGeom>
            <a:grpFill/>
            <a:ln w="9525" algn="ctr">
              <a:solidFill>
                <a:schemeClr val="accent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/>
            <a:lstStyle>
              <a:lvl1pPr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050" b="1" dirty="0"/>
                <a:t>ICAAP: Internal Capital Adequacy Process</a:t>
              </a: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7D1F7DD4-16ED-C2BA-EB2C-B0EB99DC874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83797" y="3923930"/>
              <a:ext cx="1208088" cy="508000"/>
            </a:xfrm>
            <a:prstGeom prst="rect">
              <a:avLst/>
            </a:prstGeom>
            <a:grpFill/>
            <a:ln w="9525" algn="ctr">
              <a:solidFill>
                <a:schemeClr val="accent5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5720" rIns="45720" anchor="ctr"/>
            <a:lstStyle>
              <a:lvl1pPr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7525" algn="r"/>
                </a:tabLs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050" b="1" dirty="0"/>
                <a:t>Credit Risk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D21418E-C885-A97A-74E5-0C6F1C28DD3F}"/>
              </a:ext>
            </a:extLst>
          </p:cNvPr>
          <p:cNvSpPr txBox="1"/>
          <p:nvPr/>
        </p:nvSpPr>
        <p:spPr>
          <a:xfrm>
            <a:off x="0" y="4756319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Quarterly</a:t>
            </a:r>
            <a:endParaRPr lang="en-CA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49AA0E-FC11-E517-7708-9D3196D1D17F}"/>
              </a:ext>
            </a:extLst>
          </p:cNvPr>
          <p:cNvSpPr txBox="1"/>
          <p:nvPr/>
        </p:nvSpPr>
        <p:spPr>
          <a:xfrm>
            <a:off x="31754" y="392174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Monthly</a:t>
            </a:r>
            <a:endParaRPr lang="en-CA" b="1" dirty="0"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0BAF6004-854C-F0A7-8FB1-8799687DFD9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21027" y="5447612"/>
            <a:ext cx="3590128" cy="5080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/>
          <a:p>
            <a:pPr algn="ctr">
              <a:tabLst>
                <a:tab pos="517525" algn="r"/>
              </a:tabLst>
            </a:pPr>
            <a:r>
              <a:rPr lang="en-US" altLang="en-US" sz="1200" b="1" dirty="0">
                <a:solidFill>
                  <a:srgbClr val="3F3F3F"/>
                </a:solidFill>
                <a:latin typeface="Arial" panose="020B0604020202020204" pitchFamily="34" charset="0"/>
              </a:rPr>
              <a:t>ICAAP</a:t>
            </a:r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3F48B8D8-D047-D887-1B6D-B2E4548EF7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73079" y="5480438"/>
            <a:ext cx="3524249" cy="5080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/>
          <a:p>
            <a:pPr algn="ctr">
              <a:tabLst>
                <a:tab pos="517525" algn="r"/>
              </a:tabLst>
            </a:pPr>
            <a:r>
              <a:rPr lang="en-US" altLang="en-US" sz="1200" b="1" dirty="0">
                <a:solidFill>
                  <a:srgbClr val="3F3F3F"/>
                </a:solidFill>
                <a:latin typeface="Arial" panose="020B0604020202020204" pitchFamily="34" charset="0"/>
              </a:rPr>
              <a:t>Stress Testing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B8D547-3377-716D-7BBA-060A4C17455A}"/>
              </a:ext>
            </a:extLst>
          </p:cNvPr>
          <p:cNvSpPr txBox="1"/>
          <p:nvPr/>
        </p:nvSpPr>
        <p:spPr>
          <a:xfrm>
            <a:off x="32809" y="5448345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Yearly</a:t>
            </a:r>
            <a:endParaRPr lang="en-CA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093EBA-B89F-CEF6-3A7C-2768CE525175}"/>
              </a:ext>
            </a:extLst>
          </p:cNvPr>
          <p:cNvSpPr txBox="1"/>
          <p:nvPr/>
        </p:nvSpPr>
        <p:spPr>
          <a:xfrm>
            <a:off x="86522" y="2700323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Daily</a:t>
            </a:r>
            <a:endParaRPr lang="en-CA" b="1" dirty="0"/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98E9FC8D-007A-F51A-2EF7-98B686CB44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19972" y="2587422"/>
            <a:ext cx="7276303" cy="50800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517525" algn="r"/>
              </a:tabLs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 dirty="0">
                <a:solidFill>
                  <a:srgbClr val="3F3F3F"/>
                </a:solidFill>
              </a:rPr>
              <a:t>Intraday Liquidity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4747FFE8-4938-6643-13D6-7CF0E4AD93F8}"/>
              </a:ext>
            </a:extLst>
          </p:cNvPr>
          <p:cNvSpPr/>
          <p:nvPr/>
        </p:nvSpPr>
        <p:spPr>
          <a:xfrm rot="10800000">
            <a:off x="1008687" y="6106335"/>
            <a:ext cx="7526674" cy="326808"/>
          </a:xfrm>
          <a:prstGeom prst="triangle">
            <a:avLst/>
          </a:prstGeom>
          <a:noFill/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/>
          <a:p>
            <a:pPr algn="ctr">
              <a:tabLst>
                <a:tab pos="517525" algn="r"/>
              </a:tabLst>
            </a:pPr>
            <a:endParaRPr lang="en-CA" sz="1200" b="1" dirty="0">
              <a:solidFill>
                <a:srgbClr val="3F3F3F"/>
              </a:solidFill>
              <a:latin typeface="Arial" panose="020B0604020202020204" pitchFamily="34" charset="0"/>
              <a:cs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613D8B-F653-5F25-A2BC-A459C2F16760}"/>
              </a:ext>
            </a:extLst>
          </p:cNvPr>
          <p:cNvSpPr txBox="1"/>
          <p:nvPr/>
        </p:nvSpPr>
        <p:spPr>
          <a:xfrm>
            <a:off x="4455940" y="6110435"/>
            <a:ext cx="1295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Dashboard</a:t>
            </a:r>
            <a:endParaRPr lang="en-CA" sz="11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B9BA7-2F53-07F6-4790-9432E9D06CAE}"/>
              </a:ext>
            </a:extLst>
          </p:cNvPr>
          <p:cNvSpPr txBox="1"/>
          <p:nvPr/>
        </p:nvSpPr>
        <p:spPr>
          <a:xfrm>
            <a:off x="67472" y="3337230"/>
            <a:ext cx="1581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Monthly</a:t>
            </a:r>
            <a:endParaRPr lang="en-CA" b="1" dirty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472270D-5F6E-C74C-D8BB-B17434C197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19972" y="3224329"/>
            <a:ext cx="7276303" cy="508000"/>
          </a:xfrm>
          <a:prstGeom prst="rect">
            <a:avLst/>
          </a:prstGeom>
          <a:noFill/>
          <a:ln w="9525" algn="ctr">
            <a:solidFill>
              <a:schemeClr val="accent5"/>
            </a:solidFill>
            <a:miter lim="800000"/>
            <a:headEnd/>
            <a:tailEnd/>
          </a:ln>
          <a:effectLst/>
        </p:spPr>
        <p:txBody>
          <a:bodyPr lIns="45720" rIns="45720" anchor="ctr"/>
          <a:lstStyle/>
          <a:p>
            <a:pPr algn="ctr">
              <a:tabLst>
                <a:tab pos="517525" algn="r"/>
              </a:tabLst>
            </a:pPr>
            <a:r>
              <a:rPr lang="en-US" altLang="en-US" sz="1200" b="1" dirty="0">
                <a:solidFill>
                  <a:srgbClr val="3F3F3F"/>
                </a:solidFill>
                <a:latin typeface="Arial" panose="020B0604020202020204" pitchFamily="34" charset="0"/>
              </a:rPr>
              <a:t>Asset Liability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3222847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6801-EA47-AAFC-75AB-B1B744B8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Co-Pilot | National Talent Empowerment &amp; Efficiency</a:t>
            </a:r>
            <a:br>
              <a:rPr lang="en-US" dirty="0"/>
            </a:br>
            <a:r>
              <a:rPr lang="en-US" b="0" dirty="0"/>
              <a:t>Supporting Localization Initiatives with Intelligent Automation</a:t>
            </a:r>
            <a:endParaRPr lang="en-CA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4671A-0B91-61FD-684E-F1E4B1E6D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9FAC-0763-7749-9A31-4B81838D1A1A}"/>
              </a:ext>
            </a:extLst>
          </p:cNvPr>
          <p:cNvSpPr txBox="1"/>
          <p:nvPr/>
        </p:nvSpPr>
        <p:spPr>
          <a:xfrm>
            <a:off x="261937" y="1022241"/>
            <a:ext cx="851058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Challenge: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Regulatory Complexity: </a:t>
            </a:r>
            <a:r>
              <a:rPr lang="en-US" sz="1200" dirty="0"/>
              <a:t>GCC banks face expanding local employment regulations, CBB/CMA/SAMA compliance, and reporting.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Resource Drain: </a:t>
            </a:r>
            <a:r>
              <a:rPr lang="en-US" sz="1200" dirty="0"/>
              <a:t>Skilled finance talent is often consumed by manual, repetitive compliance tasks instead of strategic local economic initiatives.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Talent Deployment Gap: </a:t>
            </a:r>
            <a:r>
              <a:rPr lang="en-US" sz="1200" dirty="0"/>
              <a:t>Over 40% of finance professionals’ time is spent on data wrangling and manual report preparation, limiting their strategic impact.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F4A122-6531-2DFF-0E81-5782B7371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349509"/>
              </p:ext>
            </p:extLst>
          </p:nvPr>
        </p:nvGraphicFramePr>
        <p:xfrm>
          <a:off x="542925" y="2597918"/>
          <a:ext cx="8320088" cy="3644140"/>
        </p:xfrm>
        <a:graphic>
          <a:graphicData uri="http://schemas.openxmlformats.org/drawingml/2006/table">
            <a:tbl>
              <a:tblPr/>
              <a:tblGrid>
                <a:gridCol w="4160044">
                  <a:extLst>
                    <a:ext uri="{9D8B030D-6E8A-4147-A177-3AD203B41FA5}">
                      <a16:colId xmlns:a16="http://schemas.microsoft.com/office/drawing/2014/main" val="3719079762"/>
                    </a:ext>
                  </a:extLst>
                </a:gridCol>
                <a:gridCol w="4160044">
                  <a:extLst>
                    <a:ext uri="{9D8B030D-6E8A-4147-A177-3AD203B41FA5}">
                      <a16:colId xmlns:a16="http://schemas.microsoft.com/office/drawing/2014/main" val="2618743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200" b="1" dirty="0">
                          <a:effectLst/>
                          <a:latin typeface="+mn-lt"/>
                        </a:rPr>
                        <a:t>What We Automate</a:t>
                      </a:r>
                      <a:endParaRPr lang="en-CA" sz="1200" b="0" dirty="0">
                        <a:effectLst/>
                        <a:latin typeface="+mn-lt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CA" sz="1200" b="1" dirty="0">
                          <a:effectLst/>
                          <a:latin typeface="+mn-lt"/>
                        </a:rPr>
                        <a:t>Local Talent Impact</a:t>
                      </a:r>
                      <a:endParaRPr lang="en-CA" sz="1200" b="0" dirty="0">
                        <a:effectLst/>
                        <a:latin typeface="+mn-lt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01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Data Aggregation &amp; Lineage</a:t>
                      </a:r>
                      <a:br>
                        <a:rPr lang="en-US" sz="1200" b="0" dirty="0">
                          <a:effectLst/>
                          <a:latin typeface="+mn-lt"/>
                        </a:rPr>
                      </a:br>
                      <a:r>
                        <a:rPr lang="en-US" sz="1200" b="0" dirty="0">
                          <a:effectLst/>
                          <a:latin typeface="+mn-lt"/>
                        </a:rPr>
                        <a:t>Automated data pulls from core banking, GL, and risk systems.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Frees up to </a:t>
                      </a:r>
                      <a:r>
                        <a:rPr lang="en-US" sz="1200" b="1" dirty="0">
                          <a:effectLst/>
                          <a:latin typeface="+mn-lt"/>
                        </a:rPr>
                        <a:t>2-3 hours/day</a:t>
                      </a:r>
                      <a:r>
                        <a:rPr lang="en-US" sz="1200" b="0" dirty="0">
                          <a:effectLst/>
                          <a:latin typeface="+mn-lt"/>
                        </a:rPr>
                        <a:t> per analyst from manual data collection—time now spent on analysis and strategy.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67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CA" sz="1200" b="1" dirty="0">
                          <a:effectLst/>
                          <a:latin typeface="+mn-lt"/>
                        </a:rPr>
                        <a:t>Regulatory Reporting</a:t>
                      </a:r>
                      <a:br>
                        <a:rPr lang="en-CA" sz="1200" b="0" dirty="0">
                          <a:effectLst/>
                          <a:latin typeface="+mn-lt"/>
                        </a:rPr>
                      </a:br>
                      <a:r>
                        <a:rPr lang="en-CA" sz="1200" b="0" dirty="0">
                          <a:effectLst/>
                          <a:latin typeface="+mn-lt"/>
                        </a:rPr>
                        <a:t>Auto-generates:</a:t>
                      </a:r>
                      <a:br>
                        <a:rPr lang="en-CA" sz="1200" b="0" dirty="0">
                          <a:effectLst/>
                          <a:latin typeface="+mn-lt"/>
                        </a:rPr>
                      </a:br>
                      <a:r>
                        <a:rPr lang="en-CA" sz="1200" b="0" dirty="0">
                          <a:effectLst/>
                          <a:latin typeface="+mn-lt"/>
                        </a:rPr>
                        <a:t>• </a:t>
                      </a:r>
                      <a:r>
                        <a:rPr lang="en-CA" sz="1200" b="1" dirty="0">
                          <a:effectLst/>
                          <a:latin typeface="+mn-lt"/>
                        </a:rPr>
                        <a:t>BCAR (Basel III)</a:t>
                      </a:r>
                      <a:br>
                        <a:rPr lang="en-CA" sz="1200" b="0" dirty="0">
                          <a:effectLst/>
                          <a:latin typeface="+mn-lt"/>
                        </a:rPr>
                      </a:br>
                      <a:r>
                        <a:rPr lang="en-CA" sz="1200" b="0" dirty="0">
                          <a:effectLst/>
                          <a:latin typeface="+mn-lt"/>
                        </a:rPr>
                        <a:t>• </a:t>
                      </a:r>
                      <a:r>
                        <a:rPr lang="en-CA" sz="1200" b="1" dirty="0">
                          <a:effectLst/>
                          <a:latin typeface="+mn-lt"/>
                        </a:rPr>
                        <a:t>LCR / NSFR /NCCF</a:t>
                      </a:r>
                      <a:br>
                        <a:rPr lang="en-CA" sz="1200" b="0" dirty="0">
                          <a:effectLst/>
                          <a:latin typeface="+mn-lt"/>
                        </a:rPr>
                      </a:br>
                      <a:r>
                        <a:rPr lang="en-CA" sz="1200" b="0" dirty="0">
                          <a:effectLst/>
                          <a:latin typeface="+mn-lt"/>
                        </a:rPr>
                        <a:t>• </a:t>
                      </a:r>
                      <a:r>
                        <a:rPr lang="en-CA" sz="1200" b="1" dirty="0">
                          <a:effectLst/>
                          <a:latin typeface="+mn-lt"/>
                        </a:rPr>
                        <a:t>IFRS 9 ECL Calculations</a:t>
                      </a:r>
                      <a:br>
                        <a:rPr lang="en-CA" sz="1200" b="0" dirty="0">
                          <a:effectLst/>
                          <a:latin typeface="+mn-lt"/>
                        </a:rPr>
                      </a:br>
                      <a:r>
                        <a:rPr lang="en-CA" sz="1200" b="0" dirty="0">
                          <a:effectLst/>
                          <a:latin typeface="+mn-lt"/>
                        </a:rPr>
                        <a:t>• </a:t>
                      </a:r>
                      <a:r>
                        <a:rPr lang="en-CA" sz="1200" b="1" dirty="0">
                          <a:effectLst/>
                          <a:latin typeface="+mn-lt"/>
                        </a:rPr>
                        <a:t>SAMA/CMA Monthly Dashboards</a:t>
                      </a:r>
                      <a:endParaRPr lang="en-CA" sz="1200" b="0" dirty="0">
                        <a:effectLst/>
                        <a:latin typeface="+mn-lt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Reduces report preparation from </a:t>
                      </a:r>
                      <a:r>
                        <a:rPr lang="en-US" sz="1200" b="1" dirty="0">
                          <a:effectLst/>
                          <a:latin typeface="+mn-lt"/>
                        </a:rPr>
                        <a:t>weeks to hours</a:t>
                      </a:r>
                      <a:r>
                        <a:rPr lang="en-US" sz="1200" b="0" dirty="0">
                          <a:effectLst/>
                          <a:latin typeface="+mn-lt"/>
                        </a:rPr>
                        <a:t>, enabling staff to focus on </a:t>
                      </a:r>
                      <a:r>
                        <a:rPr lang="en-US" sz="1200" b="1" dirty="0">
                          <a:effectLst/>
                          <a:latin typeface="+mn-lt"/>
                        </a:rPr>
                        <a:t>interpretation and strategic advisory</a:t>
                      </a:r>
                      <a:r>
                        <a:rPr lang="en-US" sz="1200" b="0" dirty="0">
                          <a:effectLst/>
                          <a:latin typeface="+mn-lt"/>
                        </a:rPr>
                        <a:t> for national goals.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0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Stress Testing &amp; ICAAP</a:t>
                      </a:r>
                      <a:br>
                        <a:rPr lang="en-US" sz="1200" b="0" dirty="0">
                          <a:effectLst/>
                          <a:latin typeface="+mn-lt"/>
                        </a:rPr>
                      </a:br>
                      <a:r>
                        <a:rPr lang="en-US" sz="1200" b="0" dirty="0">
                          <a:effectLst/>
                          <a:latin typeface="+mn-lt"/>
                        </a:rPr>
                        <a:t>Automated scenario runs and capital adequacy documentation.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Transforms a </a:t>
                      </a:r>
                      <a:r>
                        <a:rPr lang="en-US" sz="1200" b="1" dirty="0">
                          <a:effectLst/>
                          <a:latin typeface="+mn-lt"/>
                        </a:rPr>
                        <a:t>monthly/quarterly, all-hands exercise</a:t>
                      </a:r>
                      <a:r>
                        <a:rPr lang="en-US" sz="1200" b="0" dirty="0">
                          <a:effectLst/>
                          <a:latin typeface="+mn-lt"/>
                        </a:rPr>
                        <a:t> into a continuous monitoring process managed by a lean team.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57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672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7BF77-0314-3DC9-F980-D01CCA7E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AF2A-FC15-A4F3-8D8A-15E6A328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👁️ </a:t>
            </a:r>
            <a:r>
              <a:rPr lang="en-US" dirty="0"/>
              <a:t>Regulatory/</a:t>
            </a:r>
            <a:r>
              <a:rPr lang="en-US" dirty="0" err="1"/>
              <a:t>SupTech</a:t>
            </a:r>
            <a:r>
              <a:rPr lang="en-US" dirty="0"/>
              <a:t> Use Case:</a:t>
            </a:r>
            <a:br>
              <a:rPr lang="en-US" dirty="0"/>
            </a:br>
            <a:r>
              <a:rPr lang="en-US" b="0" dirty="0"/>
              <a:t>Automated Supervisory Data Submission</a:t>
            </a:r>
            <a:endParaRPr lang="en-CA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B6988B-D352-F9DB-68F7-3E188EDF1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0BC8C-3CC1-8C88-6342-18484CB3620B}"/>
              </a:ext>
            </a:extLst>
          </p:cNvPr>
          <p:cNvSpPr txBox="1"/>
          <p:nvPr/>
        </p:nvSpPr>
        <p:spPr>
          <a:xfrm>
            <a:off x="126997" y="927101"/>
            <a:ext cx="8733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Our differentiators are not just technical, but deeply rooted in regulatory expertise and local commitment, ensuring a seamless and effective implementation.</a:t>
            </a:r>
            <a:endParaRPr lang="en-CA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563F3B-5F64-B576-76C8-B8B024841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355256"/>
              </p:ext>
            </p:extLst>
          </p:nvPr>
        </p:nvGraphicFramePr>
        <p:xfrm>
          <a:off x="368296" y="1828801"/>
          <a:ext cx="8492673" cy="2778760"/>
        </p:xfrm>
        <a:graphic>
          <a:graphicData uri="http://schemas.openxmlformats.org/drawingml/2006/table">
            <a:tbl>
              <a:tblPr firstRow="1" bandRow="1">
                <a:tableStyleId>{60320F05-05AD-4D9C-89D9-953A5AB4501F}</a:tableStyleId>
              </a:tblPr>
              <a:tblGrid>
                <a:gridCol w="2830891">
                  <a:extLst>
                    <a:ext uri="{9D8B030D-6E8A-4147-A177-3AD203B41FA5}">
                      <a16:colId xmlns:a16="http://schemas.microsoft.com/office/drawing/2014/main" val="3094184380"/>
                    </a:ext>
                  </a:extLst>
                </a:gridCol>
                <a:gridCol w="2830891">
                  <a:extLst>
                    <a:ext uri="{9D8B030D-6E8A-4147-A177-3AD203B41FA5}">
                      <a16:colId xmlns:a16="http://schemas.microsoft.com/office/drawing/2014/main" val="3346847032"/>
                    </a:ext>
                  </a:extLst>
                </a:gridCol>
                <a:gridCol w="2830891">
                  <a:extLst>
                    <a:ext uri="{9D8B030D-6E8A-4147-A177-3AD203B41FA5}">
                      <a16:colId xmlns:a16="http://schemas.microsoft.com/office/drawing/2014/main" val="124707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Capability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BBA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b="1" dirty="0"/>
                        <a:t>Typical Competitors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921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Pre-built Regulatory Mappings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✔ Full Automation of OSFI/CBB-style returns (Basel II/III/IV, FRTB)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Manual configuration &amp; costly customization</a:t>
                      </a:r>
                    </a:p>
                    <a:p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12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Central Bank-Specific ML Models	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12+ Pre-built Models (e.g., ECL, Systemic Risk, LCR)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dirty="0"/>
                        <a:t>Limited templates; build on-site for extra fee</a:t>
                      </a:r>
                    </a:p>
                    <a:p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684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Bahraini Talent &amp; Investment	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~70% Local talent ratio; formalizing membership with Bahrain FinTech Bay/AFS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dirty="0"/>
                        <a:t>&lt;30% Local presence; limited ecosystem investment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dirty="0"/>
                        <a:t>	</a:t>
                      </a:r>
                    </a:p>
                    <a:p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8374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2A1ADC6-A128-5BD2-C1E1-9D8EC7A57E57}"/>
              </a:ext>
            </a:extLst>
          </p:cNvPr>
          <p:cNvSpPr txBox="1"/>
          <p:nvPr/>
        </p:nvSpPr>
        <p:spPr>
          <a:xfrm>
            <a:off x="368296" y="1509964"/>
            <a:ext cx="4582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Proven Regulatory DNA &amp; Superior Capability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E93015-9CB7-487B-AE3E-1832F426EF60}"/>
              </a:ext>
            </a:extLst>
          </p:cNvPr>
          <p:cNvSpPr txBox="1"/>
          <p:nvPr/>
        </p:nvSpPr>
        <p:spPr>
          <a:xfrm>
            <a:off x="270686" y="4764734"/>
            <a:ext cx="85902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Deep Regional &amp; Islamic Finance Expertise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Proven CBB Framework Knowledge: </a:t>
            </a:r>
            <a:r>
              <a:rPr lang="en-US" dirty="0"/>
              <a:t>Ensure 100% regulatory compliance with solutions built by the architects of Bahrain's own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Seamlessly manage your dual-sharia and conventional books with native AAOIFI/IFSB compliance</a:t>
            </a:r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You own your data and your future: </a:t>
            </a:r>
            <a:r>
              <a:rPr lang="en-US" dirty="0"/>
              <a:t>We build your team's capability, not just our footprint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50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0C44-E858-A06B-C78D-9D38FAD7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27AF985-D73F-CFBA-C9F1-1C1D7F78AF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77582" y="1219200"/>
            <a:ext cx="6191769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Agenda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1316CBA-E86D-94D8-C9CE-EA91EF2A2D7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46476" y="2197682"/>
            <a:ext cx="6191769" cy="2462635"/>
          </a:xfrm>
        </p:spPr>
        <p:txBody>
          <a:bodyPr/>
          <a:lstStyle/>
          <a:p>
            <a:r>
              <a:rPr lang="en-US" altLang="en-US" dirty="0"/>
              <a:t>Use Cases</a:t>
            </a:r>
          </a:p>
          <a:p>
            <a:r>
              <a:rPr lang="en-US" altLang="en-US" b="1" i="1" dirty="0"/>
              <a:t>Engagement Options &amp; Approach</a:t>
            </a:r>
          </a:p>
          <a:p>
            <a:r>
              <a:rPr lang="en-US" altLang="en-US" dirty="0"/>
              <a:t>Key Deliverables &amp; Benefits</a:t>
            </a:r>
          </a:p>
          <a:p>
            <a:r>
              <a:rPr lang="en-US" altLang="en-US" dirty="0"/>
              <a:t>Tech Stack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04FEED32-2FDF-954E-0740-D9FBF02E9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476" y="2149633"/>
            <a:ext cx="6051047" cy="1041242"/>
          </a:xfrm>
          <a:prstGeom prst="rect">
            <a:avLst/>
          </a:prstGeom>
          <a:noFill/>
          <a:ln w="28575">
            <a:solidFill>
              <a:srgbClr val="0B1F6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6E2D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GB" altLang="en-US" sz="1108" dirty="0"/>
          </a:p>
        </p:txBody>
      </p:sp>
    </p:spTree>
    <p:extLst>
      <p:ext uri="{BB962C8B-B14F-4D97-AF65-F5344CB8AC3E}">
        <p14:creationId xmlns:p14="http://schemas.microsoft.com/office/powerpoint/2010/main" val="385380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BB30-04D3-ACD6-B792-063C441D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BBA Reporting Automation – Choose Your Path</a:t>
            </a:r>
            <a:br>
              <a:rPr lang="en-US" dirty="0"/>
            </a:br>
            <a:r>
              <a:rPr lang="en-US" b="0" dirty="0"/>
              <a:t>Tailored solutions to meet your data governance and infrastructure preferences.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741F9-E694-7621-5002-76EAB10E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0F282B-2063-A9D2-32B2-A28DF41D085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29194" y="1643859"/>
            <a:ext cx="3956042" cy="3806824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/>
          <a:lstStyle/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Designed for clients who require data to remain on their internal cloud for privacy, compliance, or governance reasons but want to leverage our best practices.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Advisory &amp; Blueprinting: We provide the strategy, playbooks, and architecture design for your automated reporting pipeline.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Implementation Guidance: Our experts guide your internal team through the setup process for data cleaning, modeling, and dashboard creation.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Tooling &amp; Templates: You receive BBA's proprietary tools, scripts, and report templates.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Hosting: The entire solution is built and runs on your company's private cloud. BBA does not take possession of your data.</a:t>
            </a:r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79E1FF3C-94EF-DF9F-C81A-92A2D3ACAAEB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4450559" y="3321052"/>
            <a:ext cx="303212" cy="149225"/>
          </a:xfrm>
          <a:prstGeom prst="triangle">
            <a:avLst>
              <a:gd name="adj" fmla="val 50000"/>
            </a:avLst>
          </a:prstGeom>
          <a:solidFill>
            <a:srgbClr val="3F3F3F"/>
          </a:solidFill>
          <a:ln w="9525" algn="ctr">
            <a:solidFill>
              <a:srgbClr val="3F3F3F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D6FF8E19-5CC7-7620-2FCF-49D307CA0A2B}"/>
              </a:ext>
            </a:extLst>
          </p:cNvPr>
          <p:cNvSpPr/>
          <p:nvPr/>
        </p:nvSpPr>
        <p:spPr bwMode="auto">
          <a:xfrm>
            <a:off x="4927605" y="1139033"/>
            <a:ext cx="3959053" cy="504825"/>
          </a:xfrm>
          <a:prstGeom prst="roundRect">
            <a:avLst/>
          </a:prstGeom>
          <a:solidFill>
            <a:srgbClr val="54616E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72000" bIns="72000" anchor="ctr"/>
          <a:lstStyle/>
          <a:p>
            <a:pPr defTabSz="979488" eaLnBrk="0" fontAlgn="base" hangingPunct="0">
              <a:spcBef>
                <a:spcPct val="0"/>
              </a:spcBef>
              <a:spcAft>
                <a:spcPct val="0"/>
              </a:spcAft>
              <a:buClr>
                <a:srgbClr val="3F3F3F"/>
              </a:buClr>
            </a:pPr>
            <a:r>
              <a:rPr lang="en-US" sz="1200" b="1" kern="1200" dirty="0">
                <a:solidFill>
                  <a:srgbClr val="F8F8F8"/>
                </a:solidFill>
                <a:latin typeface="Arial" charset="0"/>
                <a:ea typeface="+mn-ea"/>
                <a:cs typeface="+mn-cs"/>
              </a:rPr>
              <a:t>Option 2: Advisory &amp; Enablement Service</a:t>
            </a:r>
          </a:p>
          <a:p>
            <a:pPr defTabSz="979488" eaLnBrk="0" fontAlgn="base" hangingPunct="0">
              <a:spcBef>
                <a:spcPct val="0"/>
              </a:spcBef>
              <a:spcAft>
                <a:spcPct val="0"/>
              </a:spcAft>
              <a:buClr>
                <a:srgbClr val="3F3F3F"/>
              </a:buClr>
            </a:pPr>
            <a:r>
              <a:rPr lang="en-US" sz="1200" b="1" i="1" kern="1200" dirty="0">
                <a:solidFill>
                  <a:srgbClr val="F8F8F8"/>
                </a:solidFill>
                <a:latin typeface="Arial" charset="0"/>
                <a:ea typeface="+mn-ea"/>
                <a:cs typeface="+mn-cs"/>
              </a:rPr>
              <a:t>Your infrastructure, our expertise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A6FAB3E-BC0E-0EBB-1384-BB1B29B792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3037" y="1643859"/>
            <a:ext cx="3907862" cy="3806824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/>
          <a:lstStyle/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Ideal for clients who want a complete, hands-off solution to transform raw data into actionable insights without the operational overhead.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 Ingestion: We accept your raw data in any format.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 Management: Our team handles all data cleaning, transformation, and manages full data lineage for accuracy and trust.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Model Integration: Data is ingested into either your existing models or BBA's proven analytical frameworks.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Delivery: We produce finalized reports and update dashboards on a scheduled basis.</a:t>
            </a:r>
          </a:p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Hosting: This service is delivered securely on BBA's cloud infrastructure, ensuring high performance, security, and scalability.</a:t>
            </a:r>
          </a:p>
        </p:txBody>
      </p:sp>
      <p:sp>
        <p:nvSpPr>
          <p:cNvPr id="10" name="Rounded Rectangle 19">
            <a:extLst>
              <a:ext uri="{FF2B5EF4-FFF2-40B4-BE49-F238E27FC236}">
                <a16:creationId xmlns:a16="http://schemas.microsoft.com/office/drawing/2014/main" id="{C188BBBB-4C86-A5FC-5008-D782F4A368B3}"/>
              </a:ext>
            </a:extLst>
          </p:cNvPr>
          <p:cNvSpPr/>
          <p:nvPr/>
        </p:nvSpPr>
        <p:spPr bwMode="auto">
          <a:xfrm>
            <a:off x="388474" y="1139033"/>
            <a:ext cx="3910836" cy="504825"/>
          </a:xfrm>
          <a:prstGeom prst="roundRect">
            <a:avLst/>
          </a:prstGeom>
          <a:solidFill>
            <a:schemeClr val="accent2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 defTabSz="979488" eaLnBrk="0" fontAlgn="base" hangingPunct="0">
              <a:spcBef>
                <a:spcPct val="0"/>
              </a:spcBef>
              <a:spcAft>
                <a:spcPct val="0"/>
              </a:spcAft>
              <a:buClr>
                <a:srgbClr val="3F3F3F"/>
              </a:buClr>
            </a:pPr>
            <a:r>
              <a:rPr lang="en-US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Option 1: Fully Managed Service</a:t>
            </a:r>
          </a:p>
          <a:p>
            <a:pPr defTabSz="979488" eaLnBrk="0" fontAlgn="base" hangingPunct="0">
              <a:spcBef>
                <a:spcPct val="0"/>
              </a:spcBef>
              <a:spcAft>
                <a:spcPct val="0"/>
              </a:spcAft>
              <a:buClr>
                <a:srgbClr val="3F3F3F"/>
              </a:buClr>
            </a:pPr>
            <a:r>
              <a:rPr lang="en-US" sz="120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Hands-off, end-to-end solution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3F7424A-1855-80CB-89DF-18F3DE5F97B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91448" y="5633245"/>
            <a:ext cx="3907862" cy="50482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/>
          <a:lstStyle/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Benefit: Maximize efficiency and focus on insights, and strategy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4096743D-5C5A-7444-ECA8-518061400F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977374" y="5621337"/>
            <a:ext cx="3907862" cy="50482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54616E"/>
            </a:solidFill>
            <a:miter lim="800000"/>
            <a:headEnd/>
            <a:tailEnd/>
          </a:ln>
          <a:effectLst/>
        </p:spPr>
        <p:txBody>
          <a:bodyPr lIns="72000" tIns="72000" rIns="72000" bIns="72000"/>
          <a:lstStyle/>
          <a:p>
            <a:pPr marL="231775" marR="0" lvl="0" indent="-231775" defTabSz="979488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3F3F3F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Benefit: Maintain full data control while accelerating your internal capabilities.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874B728-7D34-1A76-4F64-95D12D0B6B1E}"/>
              </a:ext>
            </a:extLst>
          </p:cNvPr>
          <p:cNvSpPr txBox="1">
            <a:spLocks/>
          </p:cNvSpPr>
          <p:nvPr/>
        </p:nvSpPr>
        <p:spPr>
          <a:xfrm>
            <a:off x="7515861" y="6502055"/>
            <a:ext cx="462867" cy="365125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fld id="{00000000-1234-1234-1234-123412341234}" type="slidenum">
              <a:rPr lang="en-US" sz="1100" smtClean="0"/>
              <a:pPr algn="ctr"/>
              <a:t>12</a:t>
            </a:fld>
            <a:endParaRPr lang="en-US" sz="1100" dirty="0"/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76FB64F0-1E02-9245-9333-B27B0E760FA1}"/>
              </a:ext>
            </a:extLst>
          </p:cNvPr>
          <p:cNvSpPr>
            <a:spLocks noChangeArrowheads="1"/>
          </p:cNvSpPr>
          <p:nvPr/>
        </p:nvSpPr>
        <p:spPr bwMode="gray">
          <a:xfrm rot="16392890">
            <a:off x="4480724" y="3618711"/>
            <a:ext cx="303212" cy="149225"/>
          </a:xfrm>
          <a:prstGeom prst="triangle">
            <a:avLst>
              <a:gd name="adj" fmla="val 50000"/>
            </a:avLst>
          </a:prstGeom>
          <a:solidFill>
            <a:srgbClr val="3F3F3F"/>
          </a:solidFill>
          <a:ln w="9525" algn="ctr">
            <a:solidFill>
              <a:srgbClr val="3F3F3F"/>
            </a:solidFill>
            <a:miter lim="800000"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399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5E9F-4B89-A983-4C86-065C6048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745DC3CC-F8D9-6196-7A6D-5788FCEDA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579" y="25401"/>
            <a:ext cx="8988421" cy="901700"/>
          </a:xfrm>
        </p:spPr>
        <p:txBody>
          <a:bodyPr/>
          <a:lstStyle/>
          <a:p>
            <a:r>
              <a:rPr lang="en-US" altLang="en-US" dirty="0"/>
              <a:t>Implementation Phases</a:t>
            </a:r>
            <a:endParaRPr lang="en-US" altLang="en-US" u="sn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F948-6949-E464-D05F-542F0122E2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BE839F0C-9D86-288D-2DFE-7AA42CE921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2165" y="3123326"/>
            <a:ext cx="2075650" cy="259457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anchor="b" anchorCtr="1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185"/>
              </a:spcAft>
            </a:pPr>
            <a:r>
              <a:rPr lang="en-GB" altLang="en-US" sz="923" b="1" dirty="0">
                <a:solidFill>
                  <a:srgbClr val="FFFFFF"/>
                </a:solidFill>
              </a:rPr>
              <a:t>TARGET Setting</a:t>
            </a:r>
          </a:p>
        </p:txBody>
      </p:sp>
      <p:sp>
        <p:nvSpPr>
          <p:cNvPr id="44040" name="Rectangle 8">
            <a:extLst>
              <a:ext uri="{FF2B5EF4-FFF2-40B4-BE49-F238E27FC236}">
                <a16:creationId xmlns:a16="http://schemas.microsoft.com/office/drawing/2014/main" id="{D3E83798-7CE4-9FF7-D1FC-E380033E6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700" y="3382783"/>
            <a:ext cx="2078582" cy="70800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lIns="42217" rIns="42217"/>
          <a:lstStyle>
            <a:lvl1pPr marL="177800" indent="-177800">
              <a:spcBef>
                <a:spcPct val="100000"/>
              </a:spcBef>
              <a:buClr>
                <a:srgbClr val="0B1F65"/>
              </a:buClr>
              <a:buFont typeface="Webdings" panose="05030102010509060703" pitchFamily="18" charset="2"/>
              <a:buChar char="4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63563" indent="-220663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77863" indent="1830388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Font typeface="Webdings" panose="05030102010509060703" pitchFamily="18" charset="2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622550" indent="1724025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4460875" indent="121285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9180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53752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8324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62896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Set stretch efficiency targets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Size functional opportunities (People, Process, Systems)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Identify key improvement levers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endParaRPr lang="en-US" altLang="en-US" sz="1016" dirty="0">
              <a:latin typeface="Arial Narrow" panose="020B0606020202030204" pitchFamily="34" charset="0"/>
            </a:endParaRPr>
          </a:p>
        </p:txBody>
      </p:sp>
      <p:sp>
        <p:nvSpPr>
          <p:cNvPr id="44041" name="Rectangle 9">
            <a:extLst>
              <a:ext uri="{FF2B5EF4-FFF2-40B4-BE49-F238E27FC236}">
                <a16:creationId xmlns:a16="http://schemas.microsoft.com/office/drawing/2014/main" id="{047A6840-1D5B-A8CA-C701-B14869F20B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8699" y="3709668"/>
            <a:ext cx="1890952" cy="259457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b" anchorCtr="1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185"/>
              </a:spcAft>
            </a:pPr>
            <a:r>
              <a:rPr lang="en-GB" altLang="en-US" sz="900" b="1" dirty="0">
                <a:solidFill>
                  <a:srgbClr val="FFFFFF"/>
                </a:solidFill>
              </a:rPr>
              <a:t>Detail &amp; Validate Opportunities</a:t>
            </a:r>
          </a:p>
        </p:txBody>
      </p:sp>
      <p:sp>
        <p:nvSpPr>
          <p:cNvPr id="44042" name="Rectangle 10">
            <a:extLst>
              <a:ext uri="{FF2B5EF4-FFF2-40B4-BE49-F238E27FC236}">
                <a16:creationId xmlns:a16="http://schemas.microsoft.com/office/drawing/2014/main" id="{4D5256C1-6437-75AA-F066-4C7D3DD4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699" y="3969125"/>
            <a:ext cx="1890952" cy="71826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lIns="42217" rIns="42217"/>
          <a:lstStyle>
            <a:lvl1pPr marL="177800" indent="-177800">
              <a:spcBef>
                <a:spcPct val="100000"/>
              </a:spcBef>
              <a:buClr>
                <a:srgbClr val="0B1F65"/>
              </a:buClr>
              <a:buFont typeface="Webdings" panose="05030102010509060703" pitchFamily="18" charset="2"/>
              <a:buChar char="4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63563" indent="-220663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77863" indent="1830388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Font typeface="Webdings" panose="05030102010509060703" pitchFamily="18" charset="2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622550" indent="1724025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4460875" indent="121285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9180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53752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8324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62896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Develop and evaluate solution options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Create detailed technical and process designs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Build out robust business cases</a:t>
            </a:r>
          </a:p>
        </p:txBody>
      </p:sp>
      <p:sp>
        <p:nvSpPr>
          <p:cNvPr id="44043" name="Rectangle 13">
            <a:extLst>
              <a:ext uri="{FF2B5EF4-FFF2-40B4-BE49-F238E27FC236}">
                <a16:creationId xmlns:a16="http://schemas.microsoft.com/office/drawing/2014/main" id="{4FE93149-0D6C-8AB3-3797-0846409A1F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4960" y="4328251"/>
            <a:ext cx="1961313" cy="257990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anchor="b" anchorCtr="1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185"/>
              </a:spcAft>
            </a:pPr>
            <a:r>
              <a:rPr lang="en-GB" altLang="en-US" sz="923" b="1" dirty="0">
                <a:solidFill>
                  <a:srgbClr val="FFFFFF"/>
                </a:solidFill>
              </a:rPr>
              <a:t>Benefits Realization</a:t>
            </a:r>
          </a:p>
        </p:txBody>
      </p:sp>
      <p:sp>
        <p:nvSpPr>
          <p:cNvPr id="44044" name="Rectangle 14">
            <a:extLst>
              <a:ext uri="{FF2B5EF4-FFF2-40B4-BE49-F238E27FC236}">
                <a16:creationId xmlns:a16="http://schemas.microsoft.com/office/drawing/2014/main" id="{F40F4947-BF7E-0878-44A0-CAF1EC76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493" y="4593369"/>
            <a:ext cx="1964245" cy="7065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lIns="42217" rIns="42217"/>
          <a:lstStyle>
            <a:lvl1pPr marL="177800" indent="-177800">
              <a:spcBef>
                <a:spcPct val="100000"/>
              </a:spcBef>
              <a:buClr>
                <a:srgbClr val="0B1F65"/>
              </a:buClr>
              <a:buFont typeface="Webdings" panose="05030102010509060703" pitchFamily="18" charset="2"/>
              <a:buChar char="4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63563" indent="-220663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77863" indent="1830388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Font typeface="Webdings" panose="05030102010509060703" pitchFamily="18" charset="2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622550" indent="1724025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4460875" indent="121285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9180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53752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8324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62896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Implement automation solutions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Manage change and user training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Track benefits and optimize performance</a:t>
            </a:r>
          </a:p>
        </p:txBody>
      </p:sp>
      <p:cxnSp>
        <p:nvCxnSpPr>
          <p:cNvPr id="44045" name="AutoShape 15">
            <a:extLst>
              <a:ext uri="{FF2B5EF4-FFF2-40B4-BE49-F238E27FC236}">
                <a16:creationId xmlns:a16="http://schemas.microsoft.com/office/drawing/2014/main" id="{672D1405-A1A9-4C8C-51A2-0B0D828C47B0}"/>
              </a:ext>
            </a:extLst>
          </p:cNvPr>
          <p:cNvCxnSpPr>
            <a:cxnSpLocks noChangeShapeType="1"/>
            <a:stCxn id="44040" idx="2"/>
          </p:cNvCxnSpPr>
          <p:nvPr/>
        </p:nvCxnSpPr>
        <p:spPr bwMode="auto">
          <a:xfrm rot="16200000" flipH="1">
            <a:off x="1899747" y="3651034"/>
            <a:ext cx="230140" cy="1109652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6" name="AutoShape 16">
            <a:extLst>
              <a:ext uri="{FF2B5EF4-FFF2-40B4-BE49-F238E27FC236}">
                <a16:creationId xmlns:a16="http://schemas.microsoft.com/office/drawing/2014/main" id="{6B8C2B41-314B-E504-5760-96E6679EB561}"/>
              </a:ext>
            </a:extLst>
          </p:cNvPr>
          <p:cNvCxnSpPr>
            <a:cxnSpLocks noChangeShapeType="1"/>
            <a:stCxn id="44042" idx="2"/>
            <a:endCxn id="44060" idx="1"/>
          </p:cNvCxnSpPr>
          <p:nvPr/>
        </p:nvCxnSpPr>
        <p:spPr bwMode="auto">
          <a:xfrm rot="16200000" flipH="1">
            <a:off x="3913575" y="4307993"/>
            <a:ext cx="277558" cy="1036359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7" name="AutoShape 17">
            <a:extLst>
              <a:ext uri="{FF2B5EF4-FFF2-40B4-BE49-F238E27FC236}">
                <a16:creationId xmlns:a16="http://schemas.microsoft.com/office/drawing/2014/main" id="{74B1C156-19F7-7CCA-7AB4-519BE5FDDC67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193128" y="4427397"/>
            <a:ext cx="134859" cy="1311940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2" name="AutoShape 22">
            <a:extLst>
              <a:ext uri="{FF2B5EF4-FFF2-40B4-BE49-F238E27FC236}">
                <a16:creationId xmlns:a16="http://schemas.microsoft.com/office/drawing/2014/main" id="{9FDF1880-8551-4A2A-5422-3DF526972A53}"/>
              </a:ext>
            </a:extLst>
          </p:cNvPr>
          <p:cNvCxnSpPr>
            <a:cxnSpLocks noChangeShapeType="1"/>
            <a:stCxn id="44059" idx="0"/>
            <a:endCxn id="44041" idx="0"/>
          </p:cNvCxnSpPr>
          <p:nvPr/>
        </p:nvCxnSpPr>
        <p:spPr bwMode="auto">
          <a:xfrm rot="5400000" flipH="1">
            <a:off x="4297152" y="2946691"/>
            <a:ext cx="492527" cy="2018481"/>
          </a:xfrm>
          <a:prstGeom prst="bentConnector3">
            <a:avLst>
              <a:gd name="adj1" fmla="val 142856"/>
            </a:avLst>
          </a:prstGeom>
          <a:noFill/>
          <a:ln w="38100" cap="rnd">
            <a:solidFill>
              <a:schemeClr val="tx1"/>
            </a:solidFill>
            <a:prstDash val="sysDot"/>
            <a:miter lim="800000"/>
            <a:headEnd type="none" w="lg" len="lg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3" name="Text Box 23">
            <a:extLst>
              <a:ext uri="{FF2B5EF4-FFF2-40B4-BE49-F238E27FC236}">
                <a16:creationId xmlns:a16="http://schemas.microsoft.com/office/drawing/2014/main" id="{11E7BB31-9FF4-B62F-FEC3-5F1004139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140" y="3287502"/>
            <a:ext cx="970116" cy="234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42217" rIns="42217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923" dirty="0">
                <a:solidFill>
                  <a:schemeClr val="bg1"/>
                </a:solidFill>
              </a:rPr>
              <a:t>Iterative Process</a:t>
            </a:r>
          </a:p>
        </p:txBody>
      </p:sp>
      <p:sp>
        <p:nvSpPr>
          <p:cNvPr id="44054" name="AutoShape 24">
            <a:extLst>
              <a:ext uri="{FF2B5EF4-FFF2-40B4-BE49-F238E27FC236}">
                <a16:creationId xmlns:a16="http://schemas.microsoft.com/office/drawing/2014/main" id="{09446749-503F-5001-F09C-90F27921C26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41544" y="2009277"/>
            <a:ext cx="2307255" cy="706542"/>
          </a:xfrm>
          <a:prstGeom prst="homePlate">
            <a:avLst>
              <a:gd name="adj" fmla="val 38219"/>
            </a:avLst>
          </a:prstGeom>
          <a:solidFill>
            <a:srgbClr val="00808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b="1" dirty="0">
                <a:solidFill>
                  <a:schemeClr val="bg1"/>
                </a:solidFill>
              </a:rPr>
              <a:t>PHASE 1:</a:t>
            </a:r>
            <a:br>
              <a:rPr lang="en-US" altLang="en-US" b="1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DISCOVER</a:t>
            </a:r>
          </a:p>
        </p:txBody>
      </p:sp>
      <p:sp>
        <p:nvSpPr>
          <p:cNvPr id="44055" name="AutoShape 25">
            <a:extLst>
              <a:ext uri="{FF2B5EF4-FFF2-40B4-BE49-F238E27FC236}">
                <a16:creationId xmlns:a16="http://schemas.microsoft.com/office/drawing/2014/main" id="{486F2B83-4ABE-A8BA-0D01-3AB4D5E34EF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468211" y="2009277"/>
            <a:ext cx="2307255" cy="706542"/>
          </a:xfrm>
          <a:prstGeom prst="homePlate">
            <a:avLst>
              <a:gd name="adj" fmla="val 38219"/>
            </a:avLst>
          </a:prstGeom>
          <a:solidFill>
            <a:srgbClr val="00808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b="1" dirty="0">
                <a:solidFill>
                  <a:schemeClr val="bg1"/>
                </a:solidFill>
              </a:rPr>
              <a:t>PHASE 2:</a:t>
            </a:r>
            <a:br>
              <a:rPr lang="en-US" altLang="en-US" b="1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44056" name="AutoShape 26">
            <a:extLst>
              <a:ext uri="{FF2B5EF4-FFF2-40B4-BE49-F238E27FC236}">
                <a16:creationId xmlns:a16="http://schemas.microsoft.com/office/drawing/2014/main" id="{709E3929-1B82-3219-2351-4101518F517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634457" y="2009277"/>
            <a:ext cx="2307255" cy="706542"/>
          </a:xfrm>
          <a:prstGeom prst="homePlate">
            <a:avLst>
              <a:gd name="adj" fmla="val 38219"/>
            </a:avLst>
          </a:prstGeom>
          <a:solidFill>
            <a:srgbClr val="00808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US" altLang="en-US" b="1" dirty="0">
                <a:solidFill>
                  <a:schemeClr val="bg1"/>
                </a:solidFill>
              </a:rPr>
              <a:t>PHASE 3:</a:t>
            </a:r>
            <a:br>
              <a:rPr lang="en-US" altLang="en-US" b="1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IMPLEMENT</a:t>
            </a:r>
          </a:p>
        </p:txBody>
      </p:sp>
      <p:cxnSp>
        <p:nvCxnSpPr>
          <p:cNvPr id="44057" name="AutoShape 28">
            <a:extLst>
              <a:ext uri="{FF2B5EF4-FFF2-40B4-BE49-F238E27FC236}">
                <a16:creationId xmlns:a16="http://schemas.microsoft.com/office/drawing/2014/main" id="{279ECBA2-4533-46D9-5915-92C6FD085472}"/>
              </a:ext>
            </a:extLst>
          </p:cNvPr>
          <p:cNvCxnSpPr>
            <a:cxnSpLocks noChangeShapeType="1"/>
            <a:stCxn id="44040" idx="2"/>
            <a:endCxn id="44058" idx="1"/>
          </p:cNvCxnSpPr>
          <p:nvPr/>
        </p:nvCxnSpPr>
        <p:spPr bwMode="auto">
          <a:xfrm rot="16200000" flipH="1">
            <a:off x="2549121" y="3001660"/>
            <a:ext cx="938147" cy="3116407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8" name="Rectangle 29">
            <a:extLst>
              <a:ext uri="{FF2B5EF4-FFF2-40B4-BE49-F238E27FC236}">
                <a16:creationId xmlns:a16="http://schemas.microsoft.com/office/drawing/2014/main" id="{CEF1D68A-502F-0246-4555-A585228BE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397" y="4976166"/>
            <a:ext cx="68896" cy="10554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GB" altLang="en-US" sz="1108" dirty="0"/>
          </a:p>
        </p:txBody>
      </p:sp>
      <p:sp>
        <p:nvSpPr>
          <p:cNvPr id="44059" name="Rectangle 11">
            <a:extLst>
              <a:ext uri="{FF2B5EF4-FFF2-40B4-BE49-F238E27FC236}">
                <a16:creationId xmlns:a16="http://schemas.microsoft.com/office/drawing/2014/main" id="{E2928555-9430-ABB6-9C4C-5409A7CB40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0" y="4202196"/>
            <a:ext cx="1961313" cy="307829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anchor="ctr" anchorCtr="1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185"/>
              </a:spcAft>
            </a:pPr>
            <a:r>
              <a:rPr lang="en-GB" altLang="en-US" sz="923" b="1" dirty="0">
                <a:solidFill>
                  <a:srgbClr val="FFFFFF"/>
                </a:solidFill>
              </a:rPr>
              <a:t>Plan for Implementation</a:t>
            </a:r>
          </a:p>
        </p:txBody>
      </p:sp>
      <p:sp>
        <p:nvSpPr>
          <p:cNvPr id="44060" name="Rectangle 12">
            <a:extLst>
              <a:ext uri="{FF2B5EF4-FFF2-40B4-BE49-F238E27FC236}">
                <a16:creationId xmlns:a16="http://schemas.microsoft.com/office/drawing/2014/main" id="{DC6219F5-9522-6835-5A69-8CD8A2458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534" y="4510025"/>
            <a:ext cx="1964245" cy="9098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lIns="42217" rIns="42217"/>
          <a:lstStyle>
            <a:lvl1pPr marL="177800" indent="-177800">
              <a:spcBef>
                <a:spcPct val="100000"/>
              </a:spcBef>
              <a:buClr>
                <a:srgbClr val="0B1F65"/>
              </a:buClr>
              <a:buFont typeface="Webdings" panose="05030102010509060703" pitchFamily="18" charset="2"/>
              <a:buChar char="4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63563" indent="-220663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77863" indent="1830388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buFont typeface="Webdings" panose="05030102010509060703" pitchFamily="18" charset="2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622550" indent="1724025">
              <a:lnSpc>
                <a:spcPct val="90000"/>
              </a:lnSpc>
              <a:spcBef>
                <a:spcPct val="40000"/>
              </a:spcBef>
              <a:buClr>
                <a:srgbClr val="0B1F65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4460875" indent="121285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9180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53752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58324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6289675" indent="1212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40000"/>
              </a:spcAft>
              <a:buClr>
                <a:schemeClr val="tx1"/>
              </a:buClr>
              <a:buSzPct val="40000"/>
              <a:buFont typeface="Arial" panose="020B0604020202020204" pitchFamily="34" charset="0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Define project charters and secure approval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Develop resource, cost, and timing plans</a:t>
            </a:r>
          </a:p>
          <a:p>
            <a:pPr>
              <a:lnSpc>
                <a:spcPct val="90000"/>
              </a:lnSpc>
              <a:spcBef>
                <a:spcPts val="92"/>
              </a:spcBef>
              <a:buFont typeface="Arial" panose="020B0604020202020204" pitchFamily="34" charset="0"/>
              <a:buChar char="•"/>
            </a:pPr>
            <a:r>
              <a:rPr lang="en-US" altLang="en-US" sz="1016" dirty="0">
                <a:latin typeface="Arial Narrow" panose="020B0606020202030204" pitchFamily="34" charset="0"/>
              </a:rPr>
              <a:t>Establish governance and accountabilities</a:t>
            </a:r>
          </a:p>
        </p:txBody>
      </p:sp>
    </p:spTree>
    <p:extLst>
      <p:ext uri="{BB962C8B-B14F-4D97-AF65-F5344CB8AC3E}">
        <p14:creationId xmlns:p14="http://schemas.microsoft.com/office/powerpoint/2010/main" val="3997805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B818-94A4-056D-EE20-928D4FC1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D7A4F17-2A0B-FA31-1B0D-4130DF787B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77582" y="1219200"/>
            <a:ext cx="6191769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Agenda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4181D42-920E-5BA2-98B6-BC6FBDB77EB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46476" y="2197682"/>
            <a:ext cx="6191769" cy="2462635"/>
          </a:xfrm>
        </p:spPr>
        <p:txBody>
          <a:bodyPr/>
          <a:lstStyle/>
          <a:p>
            <a:r>
              <a:rPr lang="en-US" altLang="en-US" dirty="0"/>
              <a:t>Use Cases</a:t>
            </a:r>
          </a:p>
          <a:p>
            <a:r>
              <a:rPr lang="en-US" altLang="en-US" dirty="0"/>
              <a:t>Engagement Options &amp; Approach</a:t>
            </a:r>
          </a:p>
          <a:p>
            <a:r>
              <a:rPr lang="en-US" altLang="en-US" b="1" i="1" dirty="0"/>
              <a:t>Key Deliverables &amp; Benefits</a:t>
            </a:r>
          </a:p>
          <a:p>
            <a:r>
              <a:rPr lang="en-US" altLang="en-US" dirty="0"/>
              <a:t>Tech Stack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C4CF1F2-746C-A834-7192-100BCCAB4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476" y="2149633"/>
            <a:ext cx="6051047" cy="1012667"/>
          </a:xfrm>
          <a:prstGeom prst="rect">
            <a:avLst/>
          </a:prstGeom>
          <a:noFill/>
          <a:ln w="28575">
            <a:solidFill>
              <a:srgbClr val="0B1F6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6E2D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GB" altLang="en-US" sz="1108" dirty="0"/>
          </a:p>
        </p:txBody>
      </p:sp>
    </p:spTree>
    <p:extLst>
      <p:ext uri="{BB962C8B-B14F-4D97-AF65-F5344CB8AC3E}">
        <p14:creationId xmlns:p14="http://schemas.microsoft.com/office/powerpoint/2010/main" val="3926479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2EFB-3DC4-69CE-74B0-78F1FD1B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Automation Project - Key Outcomes &amp; Strategic Benefits</a:t>
            </a:r>
            <a:br>
              <a:rPr lang="en-US" dirty="0"/>
            </a:br>
            <a:r>
              <a:rPr lang="en-US" b="0" dirty="0"/>
              <a:t>Quantifiable Benefits &amp; Key Performance Indicators (KPIs)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023A-4751-2369-F14E-33E4C47F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009B6A-38BF-86B0-76E2-9CB31A038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03037"/>
              </p:ext>
            </p:extLst>
          </p:nvPr>
        </p:nvGraphicFramePr>
        <p:xfrm>
          <a:off x="547687" y="1575753"/>
          <a:ext cx="8048625" cy="2743200"/>
        </p:xfrm>
        <a:graphic>
          <a:graphicData uri="http://schemas.openxmlformats.org/drawingml/2006/table">
            <a:tbl>
              <a:tblPr firstRow="1" bandRow="1">
                <a:tableStyleId>{60320F05-05AD-4D9C-89D9-953A5AB4501F}</a:tableStyleId>
              </a:tblPr>
              <a:tblGrid>
                <a:gridCol w="2682875">
                  <a:extLst>
                    <a:ext uri="{9D8B030D-6E8A-4147-A177-3AD203B41FA5}">
                      <a16:colId xmlns:a16="http://schemas.microsoft.com/office/drawing/2014/main" val="958127994"/>
                    </a:ext>
                  </a:extLst>
                </a:gridCol>
                <a:gridCol w="2682875">
                  <a:extLst>
                    <a:ext uri="{9D8B030D-6E8A-4147-A177-3AD203B41FA5}">
                      <a16:colId xmlns:a16="http://schemas.microsoft.com/office/drawing/2014/main" val="1264788139"/>
                    </a:ext>
                  </a:extLst>
                </a:gridCol>
                <a:gridCol w="2682875">
                  <a:extLst>
                    <a:ext uri="{9D8B030D-6E8A-4147-A177-3AD203B41FA5}">
                      <a16:colId xmlns:a16="http://schemas.microsoft.com/office/drawing/2014/main" val="1902284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Efficiency &amp; Process Gains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Data Governance &amp; Control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Risk, Compliance &amp; Reputation</a:t>
                      </a:r>
                      <a:endParaRPr lang="en-CA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60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Duplicate Processes Identified: </a:t>
                      </a:r>
                      <a:r>
                        <a:rPr lang="en-US" b="0" dirty="0"/>
                        <a:t>15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Processes Rationalized: </a:t>
                      </a:r>
                      <a:r>
                        <a:rPr lang="en-US" b="0" dirty="0"/>
                        <a:t>12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Automation Created</a:t>
                      </a:r>
                      <a:r>
                        <a:rPr lang="en-US" b="0" dirty="0"/>
                        <a:t>: 1 core reports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FTEs Redeployed: </a:t>
                      </a:r>
                      <a:r>
                        <a:rPr lang="en-US" b="0" dirty="0"/>
                        <a:t>3.0 (to higher-value analysis)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Reporting Cycle Time Reduced: </a:t>
                      </a:r>
                      <a:r>
                        <a:rPr lang="en-US" b="0" dirty="0"/>
                        <a:t>~65%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Data Silos Removed: </a:t>
                      </a:r>
                      <a:r>
                        <a:rPr lang="en-US" b="0" dirty="0"/>
                        <a:t>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Critical Data Elements (CDE) Defined: </a:t>
                      </a:r>
                      <a:r>
                        <a:rPr lang="en-US" b="0" dirty="0"/>
                        <a:t>125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Data Lineage Documented &amp; Improved: </a:t>
                      </a:r>
                      <a:r>
                        <a:rPr lang="en-US" b="0" dirty="0"/>
                        <a:t>100% of automated reports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Data Quality Issues Resolved: </a:t>
                      </a:r>
                      <a:r>
                        <a:rPr lang="en-US" b="0" dirty="0"/>
                        <a:t>~40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Compliance Challenges Remediated: </a:t>
                      </a:r>
                      <a:r>
                        <a:rPr lang="en-US" b="0" dirty="0"/>
                        <a:t>8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Delayed Submissions Incidents: </a:t>
                      </a:r>
                      <a:r>
                        <a:rPr lang="en-US" b="0" dirty="0"/>
                        <a:t>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Manual Error Reduction: </a:t>
                      </a:r>
                      <a:r>
                        <a:rPr lang="en-US" b="0" dirty="0"/>
                        <a:t>~90%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Reputation &amp; Stakeholder Trust: </a:t>
                      </a:r>
                      <a:r>
                        <a:rPr lang="en-US" b="0" dirty="0"/>
                        <a:t>Enhanced</a:t>
                      </a:r>
                    </a:p>
                    <a:p>
                      <a:endParaRPr lang="en-CA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8430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0D4018-467B-6354-4A2F-188949A0A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15467"/>
              </p:ext>
            </p:extLst>
          </p:nvPr>
        </p:nvGraphicFramePr>
        <p:xfrm>
          <a:off x="476250" y="4967605"/>
          <a:ext cx="8459392" cy="518160"/>
        </p:xfrm>
        <a:graphic>
          <a:graphicData uri="http://schemas.openxmlformats.org/drawingml/2006/table">
            <a:tbl>
              <a:tblPr firstRow="1" bandRow="1">
                <a:tableStyleId>{60320F05-05AD-4D9C-89D9-953A5AB4501F}</a:tableStyleId>
              </a:tblPr>
              <a:tblGrid>
                <a:gridCol w="2114848">
                  <a:extLst>
                    <a:ext uri="{9D8B030D-6E8A-4147-A177-3AD203B41FA5}">
                      <a16:colId xmlns:a16="http://schemas.microsoft.com/office/drawing/2014/main" val="2706020904"/>
                    </a:ext>
                  </a:extLst>
                </a:gridCol>
                <a:gridCol w="2114848">
                  <a:extLst>
                    <a:ext uri="{9D8B030D-6E8A-4147-A177-3AD203B41FA5}">
                      <a16:colId xmlns:a16="http://schemas.microsoft.com/office/drawing/2014/main" val="3517189814"/>
                    </a:ext>
                  </a:extLst>
                </a:gridCol>
                <a:gridCol w="2114848">
                  <a:extLst>
                    <a:ext uri="{9D8B030D-6E8A-4147-A177-3AD203B41FA5}">
                      <a16:colId xmlns:a16="http://schemas.microsoft.com/office/drawing/2014/main" val="4249322773"/>
                    </a:ext>
                  </a:extLst>
                </a:gridCol>
                <a:gridCol w="2114848">
                  <a:extLst>
                    <a:ext uri="{9D8B030D-6E8A-4147-A177-3AD203B41FA5}">
                      <a16:colId xmlns:a16="http://schemas.microsoft.com/office/drawing/2014/main" val="65835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Cycle Time Reduction:</a:t>
                      </a:r>
                      <a:r>
                        <a:rPr lang="en-US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⬇️ ~</a:t>
                      </a: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700%</a:t>
                      </a:r>
                      <a:endParaRPr lang="en-US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Manual Error Reduction:</a:t>
                      </a:r>
                      <a:r>
                        <a:rPr lang="en-US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⬇️ </a:t>
                      </a: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90%</a:t>
                      </a:r>
                      <a:endParaRPr lang="en-US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On-Time Submission:</a:t>
                      </a:r>
                      <a:r>
                        <a:rPr lang="en-US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✅ </a:t>
                      </a: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100%</a:t>
                      </a:r>
                      <a:endParaRPr lang="en-US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FTE Capacity Freed Up:</a:t>
                      </a:r>
                      <a:r>
                        <a:rPr lang="en-US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🚀 </a:t>
                      </a:r>
                      <a:r>
                        <a:rPr lang="en-US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3.0 FTE</a:t>
                      </a:r>
                      <a:endParaRPr lang="en-US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1370466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2B80C4E-7FAF-7CCE-6B0A-CDE5915CCD23}"/>
              </a:ext>
            </a:extLst>
          </p:cNvPr>
          <p:cNvSpPr txBox="1">
            <a:spLocks/>
          </p:cNvSpPr>
          <p:nvPr/>
        </p:nvSpPr>
        <p:spPr>
          <a:xfrm>
            <a:off x="7515861" y="6502055"/>
            <a:ext cx="462867" cy="365125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fld id="{00000000-1234-1234-1234-123412341234}" type="slidenum">
              <a:rPr lang="en-US" sz="1100" smtClean="0"/>
              <a:pPr algn="ctr"/>
              <a:t>15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0516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ED0C6-2567-3644-03E3-60C834F0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 Hub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DD3B6-3FC0-7260-A0BE-02818F92C4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E2EBF5-C1A6-790C-D2D9-19A94A6B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90" y="1285146"/>
            <a:ext cx="3895725" cy="21913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932394-305D-CAEC-6A30-B29D5BBEA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2824348"/>
            <a:ext cx="3895725" cy="2123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632601-0D43-7D57-E897-977AEA089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75" y="1082479"/>
            <a:ext cx="3895725" cy="21913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620B95-0C79-CB9D-FB25-57A8B6A22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690" y="3659334"/>
            <a:ext cx="3362325" cy="212342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9C02FEDA-BCA6-9FF0-2F2B-97604BB4D6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88169" y="5965601"/>
            <a:ext cx="7967662" cy="459512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marL="682625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400" b="1" dirty="0">
                <a:solidFill>
                  <a:srgbClr val="3F3F3F"/>
                </a:solidFill>
              </a:rPr>
              <a:t>Cut reporting-related OPEX by over half</a:t>
            </a: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7DB872D2-4C8C-C208-20B0-A90CF7AD1A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573881" y="5965601"/>
            <a:ext cx="533400" cy="459512"/>
          </a:xfrm>
          <a:prstGeom prst="homePlate">
            <a:avLst>
              <a:gd name="adj" fmla="val 25000"/>
            </a:avLst>
          </a:prstGeom>
          <a:solidFill>
            <a:schemeClr val="accent5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45720" rIns="45720"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026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6536E-FBDA-1F72-4AFC-2A8E12E12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Command Centre with Integrated Work Flow – An Example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4FB3C-38FD-CE37-0D8A-F24A62F118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A7ED95-75F4-3DDC-949E-4646B7CC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1" y="1125197"/>
            <a:ext cx="8220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746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8FB95-B415-B7B5-DDA8-AFD603A5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5314-9C51-4E01-E25E-05946330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BBA Solution: Transform Reporting from a Burden to a Strategic Advantage</a:t>
            </a:r>
            <a:endParaRPr lang="en-US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C01220-22DA-4F1B-237D-3007FDDE03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065A315-1262-C7DD-AEDF-6FF4F952F745}"/>
              </a:ext>
            </a:extLst>
          </p:cNvPr>
          <p:cNvGrpSpPr/>
          <p:nvPr/>
        </p:nvGrpSpPr>
        <p:grpSpPr>
          <a:xfrm>
            <a:off x="340076" y="1499533"/>
            <a:ext cx="8492428" cy="2727176"/>
            <a:chOff x="543857" y="1718539"/>
            <a:chExt cx="8492428" cy="3175499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52118F8-30DC-6C00-950E-DC2B7705EA66}"/>
                </a:ext>
              </a:extLst>
            </p:cNvPr>
            <p:cNvGrpSpPr/>
            <p:nvPr/>
          </p:nvGrpSpPr>
          <p:grpSpPr>
            <a:xfrm>
              <a:off x="543857" y="1718539"/>
              <a:ext cx="7954225" cy="3175499"/>
              <a:chOff x="150358" y="1499464"/>
              <a:chExt cx="7954225" cy="317549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C99373E-505F-8596-F87F-0BF732B4BFBF}"/>
                  </a:ext>
                </a:extLst>
              </p:cNvPr>
              <p:cNvGrpSpPr/>
              <p:nvPr/>
            </p:nvGrpSpPr>
            <p:grpSpPr>
              <a:xfrm>
                <a:off x="150358" y="1499464"/>
                <a:ext cx="1920320" cy="2586761"/>
                <a:chOff x="407533" y="1461364"/>
                <a:chExt cx="1920320" cy="2586761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08170F2-4951-A2FA-C9B9-875D9B026A5F}"/>
                    </a:ext>
                  </a:extLst>
                </p:cNvPr>
                <p:cNvSpPr/>
                <p:nvPr/>
              </p:nvSpPr>
              <p:spPr>
                <a:xfrm>
                  <a:off x="514356" y="1885950"/>
                  <a:ext cx="1357306" cy="216217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A" dirty="0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669EC27-539E-3C94-9F22-0854BB49A21A}"/>
                    </a:ext>
                  </a:extLst>
                </p:cNvPr>
                <p:cNvSpPr/>
                <p:nvPr/>
              </p:nvSpPr>
              <p:spPr>
                <a:xfrm>
                  <a:off x="609600" y="1964359"/>
                  <a:ext cx="1190625" cy="46672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Sources</a:t>
                  </a:r>
                  <a:endParaRPr lang="en-CA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4559F3C0-959E-F2A6-E437-C89FEA02F510}"/>
                    </a:ext>
                  </a:extLst>
                </p:cNvPr>
                <p:cNvSpPr/>
                <p:nvPr/>
              </p:nvSpPr>
              <p:spPr>
                <a:xfrm>
                  <a:off x="609600" y="2735884"/>
                  <a:ext cx="1190625" cy="46672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Quality checks</a:t>
                  </a:r>
                  <a:endParaRPr lang="en-CA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E5B5145-8026-BFFB-5150-E02BBAA4F89A}"/>
                    </a:ext>
                  </a:extLst>
                </p:cNvPr>
                <p:cNvSpPr/>
                <p:nvPr/>
              </p:nvSpPr>
              <p:spPr>
                <a:xfrm>
                  <a:off x="609600" y="3507409"/>
                  <a:ext cx="1190625" cy="46672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Lineage checks</a:t>
                  </a:r>
                  <a:endParaRPr lang="en-CA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6171FD-DBA1-FEE4-1B86-EA8BFED49EA5}"/>
                    </a:ext>
                  </a:extLst>
                </p:cNvPr>
                <p:cNvSpPr txBox="1"/>
                <p:nvPr/>
              </p:nvSpPr>
              <p:spPr>
                <a:xfrm>
                  <a:off x="407533" y="1461364"/>
                  <a:ext cx="192032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Data Governance</a:t>
                  </a:r>
                  <a:endParaRPr lang="en-CA" dirty="0"/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789522-3FE8-FDED-CC3A-86DC5566198E}"/>
                  </a:ext>
                </a:extLst>
              </p:cNvPr>
              <p:cNvSpPr/>
              <p:nvPr/>
            </p:nvSpPr>
            <p:spPr>
              <a:xfrm>
                <a:off x="3526640" y="1959212"/>
                <a:ext cx="1357306" cy="2009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Machine Learning Models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90C77AA-5896-162C-24F4-FEEB05C1AF7D}"/>
                  </a:ext>
                </a:extLst>
              </p:cNvPr>
              <p:cNvSpPr/>
              <p:nvPr/>
            </p:nvSpPr>
            <p:spPr>
              <a:xfrm>
                <a:off x="5157800" y="1959211"/>
                <a:ext cx="1319207" cy="2009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Regulatory Report 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43F0B2-BE92-5893-0B0D-052034F74674}"/>
                  </a:ext>
                </a:extLst>
              </p:cNvPr>
              <p:cNvSpPr/>
              <p:nvPr/>
            </p:nvSpPr>
            <p:spPr>
              <a:xfrm>
                <a:off x="6750861" y="1959210"/>
                <a:ext cx="1319207" cy="2009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Visualization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3B6820D-8207-2B57-FA49-756C871C0A85}"/>
                  </a:ext>
                </a:extLst>
              </p:cNvPr>
              <p:cNvSpPr/>
              <p:nvPr/>
            </p:nvSpPr>
            <p:spPr>
              <a:xfrm>
                <a:off x="1888341" y="1964355"/>
                <a:ext cx="1357306" cy="20097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Validation/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Reconciliation</a:t>
                </a:r>
                <a:endParaRPr lang="en-CA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CDF1C07-0C8E-6C0E-4B15-F6919ABF18F6}"/>
                  </a:ext>
                </a:extLst>
              </p:cNvPr>
              <p:cNvCxnSpPr/>
              <p:nvPr/>
            </p:nvCxnSpPr>
            <p:spPr>
              <a:xfrm>
                <a:off x="352425" y="4373812"/>
                <a:ext cx="775215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A4A490-C8FC-4E3E-6F1B-03EDDC37552F}"/>
                  </a:ext>
                </a:extLst>
              </p:cNvPr>
              <p:cNvSpPr txBox="1"/>
              <p:nvPr/>
            </p:nvSpPr>
            <p:spPr>
              <a:xfrm>
                <a:off x="3286138" y="4065730"/>
                <a:ext cx="1800225" cy="60923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~ in 10 minutes/report</a:t>
                </a:r>
                <a:endParaRPr lang="en-CA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5B8E0CC-A524-60E3-C02F-9A73D3334C66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>
                <a:off x="1614487" y="3005138"/>
                <a:ext cx="2024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646BA857-A73F-49AD-D281-700D65B0A6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3735" y="3005137"/>
                <a:ext cx="2024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142FCAD5-D4F5-50FB-CD4F-D87D542E17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3946" y="3005137"/>
                <a:ext cx="2024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034676E8-3081-6E8A-5173-0787724A84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7" y="2987909"/>
                <a:ext cx="20241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84A60A-EC24-E596-B6C6-37AA29700BB6}"/>
                </a:ext>
              </a:extLst>
            </p:cNvPr>
            <p:cNvSpPr txBox="1"/>
            <p:nvPr/>
          </p:nvSpPr>
          <p:spPr>
            <a:xfrm>
              <a:off x="2308875" y="1721765"/>
              <a:ext cx="192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Ingestions</a:t>
              </a:r>
              <a:endParaRPr lang="en-CA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0B6B16-5605-5CCC-3758-25A0B33A7CD3}"/>
                </a:ext>
              </a:extLst>
            </p:cNvPr>
            <p:cNvSpPr txBox="1"/>
            <p:nvPr/>
          </p:nvSpPr>
          <p:spPr>
            <a:xfrm>
              <a:off x="5719665" y="1721764"/>
              <a:ext cx="192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Reporting</a:t>
              </a:r>
              <a:endParaRPr lang="en-CA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7B551-7E46-B703-94DE-DDD30DD346DE}"/>
                </a:ext>
              </a:extLst>
            </p:cNvPr>
            <p:cNvSpPr txBox="1"/>
            <p:nvPr/>
          </p:nvSpPr>
          <p:spPr>
            <a:xfrm>
              <a:off x="4073893" y="1729778"/>
              <a:ext cx="192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Modelling</a:t>
              </a:r>
              <a:endParaRPr lang="en-CA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913F25-CD0C-A011-681A-D01A01CF32EC}"/>
                </a:ext>
              </a:extLst>
            </p:cNvPr>
            <p:cNvSpPr txBox="1"/>
            <p:nvPr/>
          </p:nvSpPr>
          <p:spPr>
            <a:xfrm>
              <a:off x="7115965" y="1718539"/>
              <a:ext cx="192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Dashboarding</a:t>
              </a:r>
              <a:endParaRPr lang="en-CA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721CC5-ADD1-7BA2-7173-D8BACD3F5EDC}"/>
              </a:ext>
            </a:extLst>
          </p:cNvPr>
          <p:cNvGrpSpPr/>
          <p:nvPr/>
        </p:nvGrpSpPr>
        <p:grpSpPr>
          <a:xfrm>
            <a:off x="1226834" y="4298073"/>
            <a:ext cx="6692605" cy="2101179"/>
            <a:chOff x="150911" y="1726698"/>
            <a:chExt cx="3279641" cy="43362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9443A1-E808-C5E8-11D3-92837DECF369}"/>
                </a:ext>
              </a:extLst>
            </p:cNvPr>
            <p:cNvSpPr txBox="1"/>
            <p:nvPr/>
          </p:nvSpPr>
          <p:spPr>
            <a:xfrm>
              <a:off x="237896" y="2745121"/>
              <a:ext cx="3175112" cy="2544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algn="l">
                <a:lnSpc>
                  <a:spcPts val="2143"/>
                </a:lnSpc>
                <a:spcBef>
                  <a:spcPts val="1029"/>
                </a:spcBef>
                <a:spcAft>
                  <a:spcPts val="1029"/>
                </a:spcAft>
                <a:buNone/>
              </a:pPr>
              <a:r>
                <a:rPr lang="en-CA" b="1" i="0" dirty="0">
                  <a:solidFill>
                    <a:srgbClr val="404040"/>
                  </a:solidFill>
                  <a:effectLst/>
                  <a:latin typeface="DeepSeek-CJK-patch"/>
                </a:rPr>
                <a:t>Streamlined Reporting Cycles</a:t>
              </a:r>
              <a:br>
                <a:rPr lang="en-CA" b="0" i="0" dirty="0">
                  <a:solidFill>
                    <a:srgbClr val="404040"/>
                  </a:solidFill>
                  <a:effectLst/>
                  <a:latin typeface="DeepSeek-CJK-patch"/>
                </a:rPr>
              </a:br>
              <a:r>
                <a:rPr lang="en-CA" b="0" i="0" dirty="0">
                  <a:solidFill>
                    <a:srgbClr val="404040"/>
                  </a:solidFill>
                  <a:effectLst/>
                  <a:latin typeface="DeepSeek-CJK-patch"/>
                </a:rPr>
                <a:t>Reduce manual effort and deliver insights faster with automated workflows. </a:t>
              </a:r>
              <a:r>
                <a:rPr lang="en-CA" b="1" i="0" dirty="0">
                  <a:solidFill>
                    <a:srgbClr val="404040"/>
                  </a:solidFill>
                  <a:effectLst/>
                  <a:latin typeface="DeepSeek-CJK-patch"/>
                </a:rPr>
                <a:t>Custom Dashboards &amp; Templates</a:t>
              </a:r>
              <a:br>
                <a:rPr lang="en-CA" b="0" i="0" dirty="0">
                  <a:solidFill>
                    <a:srgbClr val="404040"/>
                  </a:solidFill>
                  <a:effectLst/>
                  <a:latin typeface="DeepSeek-CJK-patch"/>
                </a:rPr>
              </a:br>
              <a:r>
                <a:rPr lang="en-CA" b="0" i="0" dirty="0">
                  <a:solidFill>
                    <a:srgbClr val="404040"/>
                  </a:solidFill>
                  <a:effectLst/>
                  <a:latin typeface="DeepSeek-CJK-patch"/>
                </a:rPr>
                <a:t>Tailor reports and visualizations for stakeholders.                                              </a:t>
              </a:r>
              <a:r>
                <a:rPr lang="en-CA" b="1" i="0" dirty="0">
                  <a:solidFill>
                    <a:srgbClr val="404040"/>
                  </a:solidFill>
                  <a:effectLst/>
                  <a:latin typeface="DeepSeek-CJK-patch"/>
                </a:rPr>
                <a:t>Seamless Compliance &amp; Collaboration</a:t>
              </a:r>
              <a:br>
                <a:rPr lang="en-CA" b="0" i="0" dirty="0">
                  <a:solidFill>
                    <a:srgbClr val="404040"/>
                  </a:solidFill>
                  <a:effectLst/>
                  <a:latin typeface="DeepSeek-CJK-patch"/>
                </a:rPr>
              </a:br>
              <a:r>
                <a:rPr lang="en-CA" b="0" i="0" dirty="0">
                  <a:solidFill>
                    <a:srgbClr val="404040"/>
                  </a:solidFill>
                  <a:effectLst/>
                  <a:latin typeface="DeepSeek-CJK-patch"/>
                </a:rPr>
                <a:t>Pre-built templates for regulators, boards, and clients.</a:t>
              </a:r>
            </a:p>
          </p:txBody>
        </p:sp>
        <p:pic>
          <p:nvPicPr>
            <p:cNvPr id="18" name="Graphic 17" descr="Clock with solid fill">
              <a:extLst>
                <a:ext uri="{FF2B5EF4-FFF2-40B4-BE49-F238E27FC236}">
                  <a16:creationId xmlns:a16="http://schemas.microsoft.com/office/drawing/2014/main" id="{548FA556-7AE1-B4B1-42C8-B4C17F980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503" y="2822335"/>
              <a:ext cx="151024" cy="53588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E5D1A3-FDC1-C483-F410-9787562098F6}"/>
                </a:ext>
              </a:extLst>
            </p:cNvPr>
            <p:cNvSpPr txBox="1"/>
            <p:nvPr/>
          </p:nvSpPr>
          <p:spPr>
            <a:xfrm>
              <a:off x="191365" y="3831508"/>
              <a:ext cx="69732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b="0" i="1" dirty="0">
                  <a:solidFill>
                    <a:srgbClr val="404040"/>
                  </a:solidFill>
                  <a:effectLst/>
                  <a:latin typeface="DeepSeek-CJK-patch"/>
                </a:rPr>
                <a:t>📊</a:t>
              </a:r>
              <a:endParaRPr lang="en-CA" dirty="0"/>
            </a:p>
          </p:txBody>
        </p:sp>
        <p:pic>
          <p:nvPicPr>
            <p:cNvPr id="25" name="Graphic 24" descr="Handshake with solid fill">
              <a:extLst>
                <a:ext uri="{FF2B5EF4-FFF2-40B4-BE49-F238E27FC236}">
                  <a16:creationId xmlns:a16="http://schemas.microsoft.com/office/drawing/2014/main" id="{E38AE937-D584-57B1-FDB6-C81C06CBF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08" y="4796952"/>
              <a:ext cx="163212" cy="762337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FD0A1BB-A68E-83F7-5D6E-9D2DC9C255D7}"/>
                </a:ext>
              </a:extLst>
            </p:cNvPr>
            <p:cNvSpPr/>
            <p:nvPr/>
          </p:nvSpPr>
          <p:spPr>
            <a:xfrm>
              <a:off x="155579" y="2685048"/>
              <a:ext cx="3257429" cy="3377882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78CE6DD-D084-47D2-A406-E2BCE9E71FE1}"/>
                </a:ext>
              </a:extLst>
            </p:cNvPr>
            <p:cNvSpPr/>
            <p:nvPr/>
          </p:nvSpPr>
          <p:spPr>
            <a:xfrm>
              <a:off x="150911" y="1726698"/>
              <a:ext cx="3279641" cy="97600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End-to-end automation, AI-powered data cleaning, guaranteed accuracy, dynamic dashboards.</a:t>
              </a:r>
              <a:endParaRPr lang="en-CA" b="1" dirty="0"/>
            </a:p>
          </p:txBody>
        </p:sp>
      </p:grpSp>
      <p:sp>
        <p:nvSpPr>
          <p:cNvPr id="32" name="Text Box 4">
            <a:extLst>
              <a:ext uri="{FF2B5EF4-FFF2-40B4-BE49-F238E27FC236}">
                <a16:creationId xmlns:a16="http://schemas.microsoft.com/office/drawing/2014/main" id="{85970F44-8C4D-9EAE-3C0F-0DF06C332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897" y="1099664"/>
            <a:ext cx="8438207" cy="22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77" b="1" dirty="0"/>
              <a:t>Achieve up to 700x faster reporting for specific returns, like LCR (as shown in the case study)</a:t>
            </a:r>
          </a:p>
        </p:txBody>
      </p:sp>
    </p:spTree>
    <p:extLst>
      <p:ext uri="{BB962C8B-B14F-4D97-AF65-F5344CB8AC3E}">
        <p14:creationId xmlns:p14="http://schemas.microsoft.com/office/powerpoint/2010/main" val="207210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B4EA-FAB2-D8DC-87FA-8C60FFFA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5770-CB7F-33A3-983B-37F95EC0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From 5-Day Fire Drill to 10-Minute Click: A Blueprint for Your Success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04B1EF-FC15-3B2E-B06C-B93213B2B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3B906-68A9-E206-3091-9EB73AC1BDA7}"/>
              </a:ext>
            </a:extLst>
          </p:cNvPr>
          <p:cNvSpPr txBox="1"/>
          <p:nvPr/>
        </p:nvSpPr>
        <p:spPr>
          <a:xfrm>
            <a:off x="126998" y="927101"/>
            <a:ext cx="4128141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b="1" dirty="0"/>
              <a:t>Client Profile: Mid-Sized Commercial Bank  </a:t>
            </a:r>
          </a:p>
          <a:p>
            <a:r>
              <a:rPr lang="en-CA" sz="1000" b="1" dirty="0"/>
              <a:t>Challenge</a:t>
            </a:r>
            <a:r>
              <a:rPr lang="en-CA" sz="1000" dirty="0"/>
              <a:t>: Inefficient, error-prone Liquidity Coverage Ratio (LCR) reporting  </a:t>
            </a:r>
          </a:p>
          <a:p>
            <a:r>
              <a:rPr lang="en-CA" sz="1000" dirty="0"/>
              <a:t>Description or the Problem: Manual LCR Reporting Took 5+ Days with High Risk of Errors</a:t>
            </a:r>
          </a:p>
          <a:p>
            <a:r>
              <a:rPr lang="en-CA" sz="1000" b="1" dirty="0"/>
              <a:t>Background : </a:t>
            </a:r>
            <a:r>
              <a:rPr lang="en-CA" sz="1000" dirty="0"/>
              <a:t>The bank was required to submit a monthly Liquidity Coverage Ratio (LCR) report to regulators, requiring data from multiple siloed systems: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Treasury Systems (HQLA – High-Quality Liquid Assets)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Core Banking (deposits, withdrawals, net cash flows)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SIT: Term Deposits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 dirty="0"/>
              <a:t>Excel (manual adjustments)  </a:t>
            </a:r>
          </a:p>
          <a:p>
            <a:endParaRPr lang="en-CA" sz="1000" b="1" dirty="0"/>
          </a:p>
          <a:p>
            <a:r>
              <a:rPr lang="en-CA" sz="1000" b="1" dirty="0"/>
              <a:t>Pain Points  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000" dirty="0"/>
              <a:t>Disparate Data Sources – Data was scattered across 5+ systems with inconsistent formats.  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000" dirty="0"/>
              <a:t>Manual Reconciliation – Analysts spent 2-3 days just fixing mismatched entries.  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000" dirty="0"/>
              <a:t>Excel Overload – Critical calculations were done in spreadsheets, leading to version control issues and errors.  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000" dirty="0"/>
              <a:t>Regulatory Risk – Late or inaccurate submissions could trigger penalties.  </a:t>
            </a:r>
          </a:p>
          <a:p>
            <a:r>
              <a:rPr lang="en-CA" sz="1000" b="1" dirty="0"/>
              <a:t>The Old Process (5+ Days)</a:t>
            </a:r>
          </a:p>
          <a:p>
            <a:r>
              <a:rPr lang="en-CA" sz="1000" dirty="0"/>
              <a:t>  </a:t>
            </a:r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ECC67A7-0B3B-660D-E21F-90FFA0A655FC}"/>
              </a:ext>
            </a:extLst>
          </p:cNvPr>
          <p:cNvGraphicFramePr>
            <a:graphicFrameLocks noGrp="1"/>
          </p:cNvGraphicFramePr>
          <p:nvPr/>
        </p:nvGraphicFramePr>
        <p:xfrm>
          <a:off x="142586" y="4601290"/>
          <a:ext cx="4236084" cy="1933288"/>
        </p:xfrm>
        <a:graphic>
          <a:graphicData uri="http://schemas.openxmlformats.org/drawingml/2006/table">
            <a:tbl>
              <a:tblPr firstRow="1" bandRow="1">
                <a:tableStyleId>{60320F05-05AD-4D9C-89D9-953A5AB4501F}</a:tableStyleId>
              </a:tblPr>
              <a:tblGrid>
                <a:gridCol w="654686">
                  <a:extLst>
                    <a:ext uri="{9D8B030D-6E8A-4147-A177-3AD203B41FA5}">
                      <a16:colId xmlns:a16="http://schemas.microsoft.com/office/drawing/2014/main" val="2235013247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465208356"/>
                    </a:ext>
                  </a:extLst>
                </a:gridCol>
                <a:gridCol w="2031998">
                  <a:extLst>
                    <a:ext uri="{9D8B030D-6E8A-4147-A177-3AD203B41FA5}">
                      <a16:colId xmlns:a16="http://schemas.microsoft.com/office/drawing/2014/main" val="602794011"/>
                    </a:ext>
                  </a:extLst>
                </a:gridCol>
              </a:tblGrid>
              <a:tr h="233328">
                <a:tc>
                  <a:txBody>
                    <a:bodyPr/>
                    <a:lstStyle/>
                    <a:p>
                      <a:r>
                        <a:rPr lang="en-CA" sz="900" b="1" dirty="0"/>
                        <a:t>Day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1" dirty="0"/>
                        <a:t>Activity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1" dirty="0"/>
                        <a:t>Issues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62959"/>
                  </a:ext>
                </a:extLst>
              </a:tr>
              <a:tr h="233328">
                <a:tc>
                  <a:txBody>
                    <a:bodyPr/>
                    <a:lstStyle/>
                    <a:p>
                      <a:r>
                        <a:rPr lang="en-CA" sz="900" b="0" dirty="0"/>
                        <a:t>1-2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dirty="0"/>
                        <a:t>Data extraction &amp; cleaning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dirty="0"/>
                        <a:t>Data extraction &amp; cleaning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300111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r>
                        <a:rPr lang="en-CA" sz="900" b="0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dirty="0"/>
                        <a:t>Manual reconciliation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/>
                        <a:t>Mismatched trade dates, incorrect classifications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373469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Regulatory adjustments in Excel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Formula errors, overwritten files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546772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5+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Risk team review &amp; corrections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Last-minute recalculations needed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19763"/>
                  </a:ext>
                </a:extLst>
              </a:tr>
              <a:tr h="366658">
                <a:tc gridSpan="3">
                  <a:txBody>
                    <a:bodyPr/>
                    <a:lstStyle/>
                    <a:p>
                      <a:r>
                        <a:rPr lang="en-US" sz="900" b="1" dirty="0"/>
                        <a:t>Result: A slow, high-risk process that delayed decision-making and increased compliance expo</a:t>
                      </a:r>
                      <a:endParaRPr lang="en-CA" sz="9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5375551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2FC2A-CF71-B006-CBEE-CDD99F0B0957}"/>
              </a:ext>
            </a:extLst>
          </p:cNvPr>
          <p:cNvCxnSpPr>
            <a:cxnSpLocks/>
          </p:cNvCxnSpPr>
          <p:nvPr/>
        </p:nvCxnSpPr>
        <p:spPr>
          <a:xfrm>
            <a:off x="4461510" y="994907"/>
            <a:ext cx="0" cy="5355944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B263A9A-3E28-EC18-1609-97C1B676B023}"/>
              </a:ext>
            </a:extLst>
          </p:cNvPr>
          <p:cNvSpPr txBox="1"/>
          <p:nvPr/>
        </p:nvSpPr>
        <p:spPr>
          <a:xfrm>
            <a:off x="4617089" y="927101"/>
            <a:ext cx="4526911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000" b="1" dirty="0"/>
              <a:t>The Solution: BBA AI-Powered LCR Automation</a:t>
            </a:r>
            <a:endParaRPr lang="en-CA" sz="1000" dirty="0"/>
          </a:p>
          <a:p>
            <a:r>
              <a:rPr lang="en-CA" sz="1000" dirty="0"/>
              <a:t>BBA deployed its proprietary AI engine to automate LCR reporting end-to-end:  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000" dirty="0"/>
              <a:t>Automated Data Aggregation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Integrated with Treasury, Core Banking, Risk, and Deposit Systems via JSON APIs. 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Standardized data fields (e.g., "HQLA" vs. "Liquid Assets") using machine learning.  </a:t>
            </a:r>
          </a:p>
          <a:p>
            <a:pPr marL="228600" indent="-228600">
              <a:buFont typeface="+mj-lt"/>
              <a:buAutoNum type="arabicPeriod"/>
            </a:pPr>
            <a:r>
              <a:rPr lang="en-CA" sz="1000" dirty="0"/>
              <a:t>AI-Driven Cleaning, Validation &amp; Reconciliation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 Flagged outliers (e.g., missing data, hard coded) for review. 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 Auto-corrected common errors (e.g., misclassified deposits).  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n-CA" sz="1000" dirty="0"/>
              <a:t>Dynamic Regulatory Compliance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Applied Basel III LCR rules in real time. 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Generated data filtration system for common accounts and currencies, developed audit trails for compliance teams.  </a:t>
            </a:r>
          </a:p>
          <a:p>
            <a:pPr marL="228600" indent="-228600">
              <a:buFont typeface="+mj-lt"/>
              <a:buAutoNum type="arabicPeriod" startAt="4"/>
            </a:pPr>
            <a:r>
              <a:rPr lang="en-CA" sz="1000" dirty="0"/>
              <a:t>Self-Checking Reports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Compared results against historical trends to detect anomalies.  </a:t>
            </a:r>
          </a:p>
          <a:p>
            <a:pPr marL="457200" lvl="2" indent="-285750">
              <a:buFont typeface="+mj-lt"/>
              <a:buAutoNum type="romanLcPeriod"/>
            </a:pPr>
            <a:r>
              <a:rPr lang="en-CA" sz="1000" dirty="0"/>
              <a:t> Produced regulator-ready reports (PDF, Excel, OSFI templates) in one click.  </a:t>
            </a:r>
          </a:p>
          <a:p>
            <a:endParaRPr lang="en-CA" sz="1000" dirty="0"/>
          </a:p>
          <a:p>
            <a:r>
              <a:rPr lang="en-CA" sz="1000" b="1" dirty="0"/>
              <a:t>Results: From 5 Days to 10 Minutes</a:t>
            </a:r>
            <a:r>
              <a:rPr lang="en-CA" sz="1000" dirty="0"/>
              <a:t>  </a:t>
            </a:r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endParaRPr lang="en-CA" sz="1000" dirty="0"/>
          </a:p>
          <a:p>
            <a:r>
              <a:rPr lang="en-CA" sz="1000" b="1" dirty="0"/>
              <a:t>Business Impact</a:t>
            </a:r>
          </a:p>
          <a:p>
            <a:pPr lvl="1"/>
            <a:r>
              <a:rPr lang="en-CA" sz="1000" dirty="0"/>
              <a:t>✅ 700x Faster Reporting – From 5x3 FTE days to under 10 minutes</a:t>
            </a:r>
          </a:p>
          <a:p>
            <a:pPr lvl="1"/>
            <a:r>
              <a:rPr lang="en-CA" sz="1000" dirty="0"/>
              <a:t>✅ Eliminated Manual Errors – AI reduced reconciliation mistakes by 100%  </a:t>
            </a:r>
          </a:p>
          <a:p>
            <a:pPr lvl="1"/>
            <a:r>
              <a:rPr lang="en-CA" sz="1000" dirty="0"/>
              <a:t>✅ Improved Regulatory Confidence – Automated audit trails ensured compliance  </a:t>
            </a:r>
          </a:p>
          <a:p>
            <a:pPr lvl="1"/>
            <a:r>
              <a:rPr lang="en-CA" sz="1000" dirty="0"/>
              <a:t>✅ Freed Up Analysts – Team shifted from data wrangling to strategic liquidity planning</a:t>
            </a:r>
          </a:p>
          <a:p>
            <a:r>
              <a:rPr lang="en-CA" sz="1000" b="1" dirty="0"/>
              <a:t>Ready to automate your regulatory reporting? Contact BBA Today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142221-B8AD-6CDD-3F30-C4C5B80706E3}"/>
              </a:ext>
            </a:extLst>
          </p:cNvPr>
          <p:cNvGraphicFramePr>
            <a:graphicFrameLocks noGrp="1"/>
          </p:cNvGraphicFramePr>
          <p:nvPr/>
        </p:nvGraphicFramePr>
        <p:xfrm>
          <a:off x="4617089" y="3743256"/>
          <a:ext cx="4444071" cy="1417320"/>
        </p:xfrm>
        <a:graphic>
          <a:graphicData uri="http://schemas.openxmlformats.org/drawingml/2006/table">
            <a:tbl>
              <a:tblPr firstRow="1" bandRow="1">
                <a:tableStyleId>{60320F05-05AD-4D9C-89D9-953A5AB4501F}</a:tableStyleId>
              </a:tblPr>
              <a:tblGrid>
                <a:gridCol w="1443696">
                  <a:extLst>
                    <a:ext uri="{9D8B030D-6E8A-4147-A177-3AD203B41FA5}">
                      <a16:colId xmlns:a16="http://schemas.microsoft.com/office/drawing/2014/main" val="2235013247"/>
                    </a:ext>
                  </a:extLst>
                </a:gridCol>
                <a:gridCol w="1213021">
                  <a:extLst>
                    <a:ext uri="{9D8B030D-6E8A-4147-A177-3AD203B41FA5}">
                      <a16:colId xmlns:a16="http://schemas.microsoft.com/office/drawing/2014/main" val="3465208356"/>
                    </a:ext>
                  </a:extLst>
                </a:gridCol>
                <a:gridCol w="1787354">
                  <a:extLst>
                    <a:ext uri="{9D8B030D-6E8A-4147-A177-3AD203B41FA5}">
                      <a16:colId xmlns:a16="http://schemas.microsoft.com/office/drawing/2014/main" val="602794011"/>
                    </a:ext>
                  </a:extLst>
                </a:gridCol>
              </a:tblGrid>
              <a:tr h="145435">
                <a:tc>
                  <a:txBody>
                    <a:bodyPr/>
                    <a:lstStyle/>
                    <a:p>
                      <a:r>
                        <a:rPr lang="en-CA" sz="900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1" dirty="0"/>
                        <a:t>Before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1" dirty="0"/>
                        <a:t>After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62959"/>
                  </a:ext>
                </a:extLst>
              </a:tr>
              <a:tr h="145435">
                <a:tc>
                  <a:txBody>
                    <a:bodyPr/>
                    <a:lstStyle/>
                    <a:p>
                      <a:r>
                        <a:rPr lang="en-CA" sz="900" b="0" dirty="0"/>
                        <a:t>Time to Generate LCR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dirty="0"/>
                        <a:t>5+ days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dirty="0"/>
                        <a:t>&lt;10 minutes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300111"/>
                  </a:ext>
                </a:extLst>
              </a:tr>
              <a:tr h="145435">
                <a:tc>
                  <a:txBody>
                    <a:bodyPr/>
                    <a:lstStyle/>
                    <a:p>
                      <a:r>
                        <a:rPr lang="en-CA" sz="900" b="0" dirty="0"/>
                        <a:t>Manual Effort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dirty="0"/>
                        <a:t>3 FTEs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/>
                        <a:t>Fully automated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373469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Error Rate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High (manual)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Near-zero (AI validation + Parallel run)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546772"/>
                  </a:ext>
                </a:extLst>
              </a:tr>
              <a:tr h="2326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Regulatory Compliance</a:t>
                      </a:r>
                      <a:endParaRPr lang="en-CA" sz="9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Risky (late submissions)	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Always on time</a:t>
                      </a:r>
                      <a:endParaRPr lang="en-CA" sz="900" b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19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340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3F2D-4D98-5311-CAD0-70923F00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E3F90AC-E15A-0B24-9A99-F8EB138439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77582" y="1219200"/>
            <a:ext cx="6191769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Agenda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29B833C-1A39-7852-3738-FB48EDBE319B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46476" y="2197682"/>
            <a:ext cx="6191769" cy="2462635"/>
          </a:xfrm>
        </p:spPr>
        <p:txBody>
          <a:bodyPr/>
          <a:lstStyle/>
          <a:p>
            <a:r>
              <a:rPr lang="en-US" altLang="en-US" dirty="0"/>
              <a:t>Use Cases</a:t>
            </a:r>
          </a:p>
          <a:p>
            <a:r>
              <a:rPr lang="en-US" altLang="en-US" dirty="0"/>
              <a:t>Engagement Options &amp; Approach</a:t>
            </a:r>
          </a:p>
          <a:p>
            <a:r>
              <a:rPr lang="en-US" altLang="en-US" dirty="0"/>
              <a:t>Key Deliverables &amp; Benefits</a:t>
            </a:r>
          </a:p>
          <a:p>
            <a:r>
              <a:rPr lang="en-US" altLang="en-US" b="1" i="1" dirty="0"/>
              <a:t>Tech Stack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8B52143-5C8D-3BA0-D133-AB0660EAA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476" y="2149633"/>
            <a:ext cx="6051047" cy="1012667"/>
          </a:xfrm>
          <a:prstGeom prst="rect">
            <a:avLst/>
          </a:prstGeom>
          <a:noFill/>
          <a:ln w="28575">
            <a:solidFill>
              <a:srgbClr val="0B1F6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6E2D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42217" rIns="42217" anchor="ctr"/>
          <a:lstStyle>
            <a:lvl1pPr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GB" altLang="en-US" sz="1108" dirty="0"/>
          </a:p>
        </p:txBody>
      </p:sp>
    </p:spTree>
    <p:extLst>
      <p:ext uri="{BB962C8B-B14F-4D97-AF65-F5344CB8AC3E}">
        <p14:creationId xmlns:p14="http://schemas.microsoft.com/office/powerpoint/2010/main" val="287667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D914-967D-B17E-E96E-0BD8A050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662C4-20F4-B893-176A-F7FDBD59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We use secure, enterprise-grade technology (Microsoft Azure) and our own proprietary AI to do the heavy lifting. You get the insights, not the complexity.</a:t>
            </a:r>
            <a:endParaRPr lang="en-CA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EE1B6-898F-5271-DC42-364DEBEBC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071F988-D251-F88F-CDEE-44254304B41E}"/>
              </a:ext>
            </a:extLst>
          </p:cNvPr>
          <p:cNvGrpSpPr/>
          <p:nvPr/>
        </p:nvGrpSpPr>
        <p:grpSpPr>
          <a:xfrm>
            <a:off x="244356" y="1160815"/>
            <a:ext cx="8451345" cy="4920868"/>
            <a:chOff x="221942" y="1169692"/>
            <a:chExt cx="8451345" cy="4920868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FCC2424-9EB2-CC47-0318-03140467D87E}"/>
                </a:ext>
              </a:extLst>
            </p:cNvPr>
            <p:cNvGrpSpPr/>
            <p:nvPr/>
          </p:nvGrpSpPr>
          <p:grpSpPr>
            <a:xfrm>
              <a:off x="221942" y="1169692"/>
              <a:ext cx="6374167" cy="4920868"/>
              <a:chOff x="221942" y="1169692"/>
              <a:chExt cx="8297655" cy="492086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CE1373-FF2F-C392-2827-82F4C6ACA437}"/>
                  </a:ext>
                </a:extLst>
              </p:cNvPr>
              <p:cNvSpPr/>
              <p:nvPr/>
            </p:nvSpPr>
            <p:spPr>
              <a:xfrm>
                <a:off x="1250271" y="1204226"/>
                <a:ext cx="1740021" cy="4882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Client raw data sourcing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7250808-0DD3-86AB-FCED-37B5A6CAA001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>
                <a:off x="2120282" y="1692498"/>
                <a:ext cx="0" cy="6413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B693B98-621F-66BA-5D22-1698A7BD42E4}"/>
                  </a:ext>
                </a:extLst>
              </p:cNvPr>
              <p:cNvSpPr/>
              <p:nvPr/>
            </p:nvSpPr>
            <p:spPr>
              <a:xfrm>
                <a:off x="853733" y="2388831"/>
                <a:ext cx="2253449" cy="488273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automation layer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8328CAF-EC5B-6DCB-F418-EC8C68454AF2}"/>
                  </a:ext>
                </a:extLst>
              </p:cNvPr>
              <p:cNvSpPr/>
              <p:nvPr/>
            </p:nvSpPr>
            <p:spPr>
              <a:xfrm>
                <a:off x="853733" y="3352675"/>
                <a:ext cx="1890947" cy="488273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Intelligence layer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9C9AFE3-E646-BFEE-D0C5-23C0B7806A27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>
                <a:off x="1799207" y="2877104"/>
                <a:ext cx="0" cy="4755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62CDB3-93EF-D511-8E0A-A9499AF7AC20}"/>
                  </a:ext>
                </a:extLst>
              </p:cNvPr>
              <p:cNvSpPr/>
              <p:nvPr/>
            </p:nvSpPr>
            <p:spPr>
              <a:xfrm>
                <a:off x="1250271" y="4015160"/>
                <a:ext cx="1856911" cy="48827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Business actions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0EA820EA-C357-3FA5-48BF-7E61BE503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8408" y="2877104"/>
                <a:ext cx="0" cy="11420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EE884C8-CD1A-9F3D-E2B4-B6BD0687C3E7}"/>
                  </a:ext>
                </a:extLst>
              </p:cNvPr>
              <p:cNvSpPr/>
              <p:nvPr/>
            </p:nvSpPr>
            <p:spPr>
              <a:xfrm>
                <a:off x="853733" y="4859765"/>
                <a:ext cx="2253449" cy="488273"/>
              </a:xfrm>
              <a:prstGeom prst="rect">
                <a:avLst/>
              </a:prstGeom>
              <a:solidFill>
                <a:srgbClr val="3DA31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Continuous improvement</a:t>
                </a:r>
                <a:endParaRPr lang="en-CA" sz="11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1" name="Connector: Elbow 40">
                <a:extLst>
                  <a:ext uri="{FF2B5EF4-FFF2-40B4-BE49-F238E27FC236}">
                    <a16:creationId xmlns:a16="http://schemas.microsoft.com/office/drawing/2014/main" id="{1E032EC4-7889-03CF-941F-2C8000E6253C}"/>
                  </a:ext>
                </a:extLst>
              </p:cNvPr>
              <p:cNvCxnSpPr>
                <a:cxnSpLocks/>
                <a:stCxn id="8" idx="1"/>
              </p:cNvCxnSpPr>
              <p:nvPr/>
            </p:nvCxnSpPr>
            <p:spPr>
              <a:xfrm rot="10800000" flipV="1">
                <a:off x="221947" y="2632968"/>
                <a:ext cx="631787" cy="2470934"/>
              </a:xfrm>
              <a:prstGeom prst="bentConnector2">
                <a:avLst/>
              </a:prstGeom>
              <a:ln>
                <a:headEnd type="triangle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4DD05A2-0F0A-CB8F-385F-A0E73E48D53E}"/>
                  </a:ext>
                </a:extLst>
              </p:cNvPr>
              <p:cNvCxnSpPr>
                <a:cxnSpLocks/>
                <a:endCxn id="35" idx="1"/>
              </p:cNvCxnSpPr>
              <p:nvPr/>
            </p:nvCxnSpPr>
            <p:spPr>
              <a:xfrm>
                <a:off x="221942" y="5103902"/>
                <a:ext cx="631791" cy="0"/>
              </a:xfrm>
              <a:prstGeom prst="line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1876B38-D35F-0523-2CCE-2D1424E6BB85}"/>
                  </a:ext>
                </a:extLst>
              </p:cNvPr>
              <p:cNvCxnSpPr>
                <a:stCxn id="28" idx="2"/>
              </p:cNvCxnSpPr>
              <p:nvPr/>
            </p:nvCxnSpPr>
            <p:spPr>
              <a:xfrm flipH="1">
                <a:off x="2175029" y="4503433"/>
                <a:ext cx="3698" cy="356332"/>
              </a:xfrm>
              <a:prstGeom prst="line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5C6A514-62F3-F021-960B-1EB4359DF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146" y="3840948"/>
                <a:ext cx="0" cy="1018817"/>
              </a:xfrm>
              <a:prstGeom prst="line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0C39ECD-34FE-8628-28DF-C742C43B316D}"/>
                  </a:ext>
                </a:extLst>
              </p:cNvPr>
              <p:cNvSpPr/>
              <p:nvPr/>
            </p:nvSpPr>
            <p:spPr>
              <a:xfrm>
                <a:off x="3589535" y="1169692"/>
                <a:ext cx="2253449" cy="488273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automation layer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D2558B8-FC76-4B2B-7108-60A34E81DF4D}"/>
                  </a:ext>
                </a:extLst>
              </p:cNvPr>
              <p:cNvSpPr/>
              <p:nvPr/>
            </p:nvSpPr>
            <p:spPr>
              <a:xfrm>
                <a:off x="3732306" y="2097048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cleaning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16B3DE1-DF9C-0BF5-091F-4D4385263D95}"/>
                  </a:ext>
                </a:extLst>
              </p:cNvPr>
              <p:cNvSpPr/>
              <p:nvPr/>
            </p:nvSpPr>
            <p:spPr>
              <a:xfrm>
                <a:off x="3732305" y="3001777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transformation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CA7A909-5723-C9BD-9336-A8C537FD1D7B}"/>
                  </a:ext>
                </a:extLst>
              </p:cNvPr>
              <p:cNvSpPr/>
              <p:nvPr/>
            </p:nvSpPr>
            <p:spPr>
              <a:xfrm>
                <a:off x="3732305" y="4718377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validation/audit trail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FA543D7-B834-4659-0311-4F7115D7E954}"/>
                  </a:ext>
                </a:extLst>
              </p:cNvPr>
              <p:cNvSpPr/>
              <p:nvPr/>
            </p:nvSpPr>
            <p:spPr>
              <a:xfrm>
                <a:off x="3662874" y="5602287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storage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596C288-A75D-54D6-8564-1D0716D333FE}"/>
                  </a:ext>
                </a:extLst>
              </p:cNvPr>
              <p:cNvSpPr/>
              <p:nvPr/>
            </p:nvSpPr>
            <p:spPr>
              <a:xfrm>
                <a:off x="3732305" y="3851957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Data reconciliation</a:t>
                </a:r>
                <a:endParaRPr lang="en-CA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4FD75CD-0AAE-988C-63D0-6E01544DB77D}"/>
                  </a:ext>
                </a:extLst>
              </p:cNvPr>
              <p:cNvSpPr/>
              <p:nvPr/>
            </p:nvSpPr>
            <p:spPr>
              <a:xfrm>
                <a:off x="6279469" y="1169692"/>
                <a:ext cx="1890947" cy="488273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Data intelligence layer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A60CF68-592B-198A-67ED-21AE2D01ED02}"/>
                  </a:ext>
                </a:extLst>
              </p:cNvPr>
              <p:cNvSpPr/>
              <p:nvPr/>
            </p:nvSpPr>
            <p:spPr>
              <a:xfrm>
                <a:off x="5965794" y="1994014"/>
                <a:ext cx="1207363" cy="4882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Client analytics engine</a:t>
                </a:r>
                <a:endParaRPr lang="en-CA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DDD6E87-1157-B86F-B786-90E8A1E60508}"/>
                  </a:ext>
                </a:extLst>
              </p:cNvPr>
              <p:cNvSpPr/>
              <p:nvPr/>
            </p:nvSpPr>
            <p:spPr>
              <a:xfrm>
                <a:off x="7312234" y="1994014"/>
                <a:ext cx="1207363" cy="48827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BBA analytics engine</a:t>
                </a:r>
                <a:endParaRPr lang="en-CA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550D7225-F209-918F-A1D7-36F5757AE6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9475" y="1675942"/>
                <a:ext cx="0" cy="3271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7C80FE8F-9B12-7F38-9657-B73ABF59E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5915" y="1670648"/>
                <a:ext cx="0" cy="3377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9EAE070-09C0-8087-369E-4FED4A5658ED}"/>
                  </a:ext>
                </a:extLst>
              </p:cNvPr>
              <p:cNvSpPr/>
              <p:nvPr/>
            </p:nvSpPr>
            <p:spPr>
              <a:xfrm>
                <a:off x="6399319" y="2794478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BBA ML models 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DD898B9-0D07-CB32-EAFA-748C3D8B55F1}"/>
                  </a:ext>
                </a:extLst>
              </p:cNvPr>
              <p:cNvSpPr/>
              <p:nvPr/>
            </p:nvSpPr>
            <p:spPr>
              <a:xfrm>
                <a:off x="6399318" y="3658132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Automated reporting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ED878AE-2925-8C8A-C70D-D24E125713EA}"/>
                  </a:ext>
                </a:extLst>
              </p:cNvPr>
              <p:cNvSpPr/>
              <p:nvPr/>
            </p:nvSpPr>
            <p:spPr>
              <a:xfrm>
                <a:off x="6399318" y="4527581"/>
                <a:ext cx="1890947" cy="48827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Dynamic dashboards</a:t>
                </a:r>
                <a:endParaRPr lang="en-CA" sz="11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5C2F1C64-BDE6-57C1-6EAA-8285CC844D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9475" y="2506887"/>
                <a:ext cx="0" cy="3121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39A028FA-98F5-A607-EA13-05941A11D0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5915" y="2488330"/>
                <a:ext cx="0" cy="3162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A1F0B235-CF44-0875-7526-448709EC6C3A}"/>
                  </a:ext>
                </a:extLst>
              </p:cNvPr>
              <p:cNvCxnSpPr>
                <a:stCxn id="77" idx="2"/>
                <a:endCxn id="80" idx="0"/>
              </p:cNvCxnSpPr>
              <p:nvPr/>
            </p:nvCxnSpPr>
            <p:spPr>
              <a:xfrm flipH="1">
                <a:off x="7344792" y="3282751"/>
                <a:ext cx="1" cy="3753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3388F14A-69E9-73E0-5272-B8DA9A4A8981}"/>
                  </a:ext>
                </a:extLst>
              </p:cNvPr>
              <p:cNvCxnSpPr/>
              <p:nvPr/>
            </p:nvCxnSpPr>
            <p:spPr>
              <a:xfrm flipH="1">
                <a:off x="7350143" y="4162665"/>
                <a:ext cx="1" cy="37538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345AD64-A043-4C05-A738-1E7B3846B881}"/>
                </a:ext>
              </a:extLst>
            </p:cNvPr>
            <p:cNvSpPr/>
            <p:nvPr/>
          </p:nvSpPr>
          <p:spPr>
            <a:xfrm>
              <a:off x="7246828" y="1204225"/>
              <a:ext cx="1426459" cy="4882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Business actions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04578E6-91C8-FFF6-62FA-8CD1C175EACE}"/>
                </a:ext>
              </a:extLst>
            </p:cNvPr>
            <p:cNvSpPr/>
            <p:nvPr/>
          </p:nvSpPr>
          <p:spPr>
            <a:xfrm>
              <a:off x="7234471" y="2141215"/>
              <a:ext cx="1426459" cy="488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Strategy alignment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8A7F889-2E39-639E-76C8-BDE90B1B2CAC}"/>
                </a:ext>
              </a:extLst>
            </p:cNvPr>
            <p:cNvSpPr/>
            <p:nvPr/>
          </p:nvSpPr>
          <p:spPr>
            <a:xfrm>
              <a:off x="7246259" y="3045481"/>
              <a:ext cx="1426459" cy="488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Automated alerts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65C65AA-AB7F-E1F9-8CB4-47FA59F5E124}"/>
                </a:ext>
              </a:extLst>
            </p:cNvPr>
            <p:cNvSpPr/>
            <p:nvPr/>
          </p:nvSpPr>
          <p:spPr>
            <a:xfrm>
              <a:off x="7234470" y="3918528"/>
              <a:ext cx="1426459" cy="488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Action points tracking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C997949-34E6-CB64-B09A-B64D9F325D7D}"/>
                </a:ext>
              </a:extLst>
            </p:cNvPr>
            <p:cNvSpPr/>
            <p:nvPr/>
          </p:nvSpPr>
          <p:spPr>
            <a:xfrm>
              <a:off x="7234471" y="4822794"/>
              <a:ext cx="1426459" cy="488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Performance management</a:t>
              </a:r>
              <a:endParaRPr lang="en-CA" sz="1100" dirty="0">
                <a:solidFill>
                  <a:schemeClr val="tx1"/>
                </a:solidFill>
              </a:endParaRP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480AA90-6BAB-0318-6FDD-25B07274886E}"/>
                </a:ext>
              </a:extLst>
            </p:cNvPr>
            <p:cNvCxnSpPr/>
            <p:nvPr/>
          </p:nvCxnSpPr>
          <p:spPr>
            <a:xfrm flipH="1">
              <a:off x="7959489" y="1723271"/>
              <a:ext cx="1" cy="3753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672AC670-3A4C-51D5-D686-270B6B1D2019}"/>
                </a:ext>
              </a:extLst>
            </p:cNvPr>
            <p:cNvCxnSpPr/>
            <p:nvPr/>
          </p:nvCxnSpPr>
          <p:spPr>
            <a:xfrm flipH="1">
              <a:off x="7945399" y="2687257"/>
              <a:ext cx="1" cy="3753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E60BCAA-9BCF-49BA-D78F-26B0997D9452}"/>
                </a:ext>
              </a:extLst>
            </p:cNvPr>
            <p:cNvCxnSpPr/>
            <p:nvPr/>
          </p:nvCxnSpPr>
          <p:spPr>
            <a:xfrm flipH="1">
              <a:off x="7947698" y="3526887"/>
              <a:ext cx="1" cy="3753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FEEC7AF0-E028-738B-7756-2DD26FD75469}"/>
                </a:ext>
              </a:extLst>
            </p:cNvPr>
            <p:cNvCxnSpPr/>
            <p:nvPr/>
          </p:nvCxnSpPr>
          <p:spPr>
            <a:xfrm flipH="1">
              <a:off x="7945398" y="4409427"/>
              <a:ext cx="1" cy="3753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6FD64B3-DCA1-68AB-6446-985658F9A28B}"/>
              </a:ext>
            </a:extLst>
          </p:cNvPr>
          <p:cNvCxnSpPr/>
          <p:nvPr/>
        </p:nvCxnSpPr>
        <p:spPr>
          <a:xfrm flipH="1">
            <a:off x="3667281" y="1700544"/>
            <a:ext cx="1" cy="37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36377F7E-912C-70F5-E149-A0C6AC512079}"/>
              </a:ext>
            </a:extLst>
          </p:cNvPr>
          <p:cNvCxnSpPr/>
          <p:nvPr/>
        </p:nvCxnSpPr>
        <p:spPr>
          <a:xfrm flipH="1">
            <a:off x="3630909" y="2588690"/>
            <a:ext cx="1" cy="37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FF0608-66E6-7108-2CC2-272CECF06DEB}"/>
              </a:ext>
            </a:extLst>
          </p:cNvPr>
          <p:cNvCxnSpPr/>
          <p:nvPr/>
        </p:nvCxnSpPr>
        <p:spPr>
          <a:xfrm flipH="1">
            <a:off x="3613945" y="3469927"/>
            <a:ext cx="1" cy="37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3D03DAE-DDAD-35FD-E722-C6FE7A3ACB44}"/>
              </a:ext>
            </a:extLst>
          </p:cNvPr>
          <p:cNvCxnSpPr/>
          <p:nvPr/>
        </p:nvCxnSpPr>
        <p:spPr>
          <a:xfrm flipH="1">
            <a:off x="3592993" y="4331353"/>
            <a:ext cx="1" cy="37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8A509E0-33C2-39E1-B293-69A3B38E2B15}"/>
              </a:ext>
            </a:extLst>
          </p:cNvPr>
          <p:cNvCxnSpPr/>
          <p:nvPr/>
        </p:nvCxnSpPr>
        <p:spPr>
          <a:xfrm flipH="1">
            <a:off x="3573287" y="5207901"/>
            <a:ext cx="1" cy="375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CB2965C-012B-6E58-4B75-F90D285C6D14}"/>
              </a:ext>
            </a:extLst>
          </p:cNvPr>
          <p:cNvCxnSpPr>
            <a:cxnSpLocks/>
          </p:cNvCxnSpPr>
          <p:nvPr/>
        </p:nvCxnSpPr>
        <p:spPr>
          <a:xfrm>
            <a:off x="2698295" y="1890226"/>
            <a:ext cx="0" cy="331965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5893EE8-9E59-96F5-565D-2BF97951D474}"/>
              </a:ext>
            </a:extLst>
          </p:cNvPr>
          <p:cNvCxnSpPr>
            <a:cxnSpLocks/>
          </p:cNvCxnSpPr>
          <p:nvPr/>
        </p:nvCxnSpPr>
        <p:spPr>
          <a:xfrm>
            <a:off x="4572963" y="1878114"/>
            <a:ext cx="0" cy="331965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5CE015B-B7AB-56D4-5F3C-AC1C216024FD}"/>
              </a:ext>
            </a:extLst>
          </p:cNvPr>
          <p:cNvCxnSpPr>
            <a:cxnSpLocks/>
          </p:cNvCxnSpPr>
          <p:nvPr/>
        </p:nvCxnSpPr>
        <p:spPr>
          <a:xfrm>
            <a:off x="6918148" y="1714394"/>
            <a:ext cx="0" cy="331965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050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5959-07FC-45B2-05A1-AA6434FE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 to Transform Your Regulatory Reporting?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6419F-D753-77E1-00E8-D2303E130C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A3510B71-6E4F-CC75-11BB-E48946F052A7}"/>
              </a:ext>
            </a:extLst>
          </p:cNvPr>
          <p:cNvGrpSpPr>
            <a:grpSpLocks/>
          </p:cNvGrpSpPr>
          <p:nvPr/>
        </p:nvGrpSpPr>
        <p:grpSpPr bwMode="auto">
          <a:xfrm>
            <a:off x="1541794" y="3430914"/>
            <a:ext cx="4795166" cy="1364940"/>
            <a:chOff x="378" y="2140"/>
            <a:chExt cx="2476" cy="253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A01A6257-1289-93FA-CA7C-9798E393EFF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78" y="2140"/>
              <a:ext cx="825" cy="253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indent="-171450" eaLnBrk="1" hangingPunct="1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altLang="en-US" noProof="1">
                  <a:solidFill>
                    <a:schemeClr val="bg1"/>
                  </a:solidFill>
                </a:rPr>
                <a:t>A 30-minute session to identify your top 3 reporting inefficiencies</a:t>
              </a:r>
              <a:r>
                <a:rPr lang="en-US" altLang="en-US" b="1" noProof="1">
                  <a:solidFill>
                    <a:schemeClr val="bg1"/>
                  </a:solidFill>
                </a:rPr>
                <a:t>.</a:t>
              </a:r>
              <a:endParaRPr lang="en-CA" altLang="en-US" b="1" noProof="1">
                <a:solidFill>
                  <a:schemeClr val="bg1"/>
                </a:solidFill>
              </a:endParaRP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C1E6F64B-EB0F-A521-CCA3-4CE99642805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03" y="2140"/>
              <a:ext cx="826" cy="253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indent="-1714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altLang="en-US" noProof="1">
                  <a:solidFill>
                    <a:schemeClr val="bg1"/>
                  </a:solidFill>
                </a:rPr>
                <a:t>Receive a customized, high-level estimate of potential time and cost savings for your firm.</a:t>
              </a:r>
              <a:endParaRPr lang="en-CA" altLang="en-US" noProof="1">
                <a:solidFill>
                  <a:schemeClr val="bg1"/>
                </a:solidFill>
              </a:endParaRP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5FF7F70-AC58-58DD-CE0A-D484A754E69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029" y="2140"/>
              <a:ext cx="825" cy="253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171450" indent="-171450" eaLnBrk="1" hangingPunct="1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altLang="en-US" noProof="1">
                  <a:solidFill>
                    <a:schemeClr val="bg1"/>
                  </a:solidFill>
                </a:rPr>
                <a:t>Receive a customized, high-level estimate of potential time and cost savings for your firm.</a:t>
              </a:r>
              <a:endParaRPr lang="en-CA" altLang="en-US" noProof="1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54E2BE-7BB7-89A4-18E3-6C2A176FD5D4}"/>
              </a:ext>
            </a:extLst>
          </p:cNvPr>
          <p:cNvGrpSpPr/>
          <p:nvPr/>
        </p:nvGrpSpPr>
        <p:grpSpPr>
          <a:xfrm>
            <a:off x="1541794" y="1500726"/>
            <a:ext cx="5750500" cy="1586081"/>
            <a:chOff x="1541794" y="1500726"/>
            <a:chExt cx="5750500" cy="1586081"/>
          </a:xfrm>
        </p:grpSpPr>
        <p:grpSp>
          <p:nvGrpSpPr>
            <p:cNvPr id="12" name="Group 6">
              <a:extLst>
                <a:ext uri="{FF2B5EF4-FFF2-40B4-BE49-F238E27FC236}">
                  <a16:creationId xmlns:a16="http://schemas.microsoft.com/office/drawing/2014/main" id="{DDA69650-D9E6-C63D-E876-810FD2637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794" y="1842917"/>
              <a:ext cx="4795166" cy="901700"/>
              <a:chOff x="378" y="2140"/>
              <a:chExt cx="2476" cy="253"/>
            </a:xfrm>
          </p:grpSpPr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FDBD4A42-68F6-11F2-8CD3-B3A65250D5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78" y="2140"/>
                <a:ext cx="825" cy="253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CA" altLang="en-US" b="1" noProof="1">
                    <a:solidFill>
                      <a:schemeClr val="bg1"/>
                    </a:solidFill>
                  </a:rPr>
                  <a:t>Discovery Call</a:t>
                </a:r>
              </a:p>
            </p:txBody>
          </p:sp>
          <p:sp>
            <p:nvSpPr>
              <p:cNvPr id="14" name="Rectangle 8">
                <a:extLst>
                  <a:ext uri="{FF2B5EF4-FFF2-40B4-BE49-F238E27FC236}">
                    <a16:creationId xmlns:a16="http://schemas.microsoft.com/office/drawing/2014/main" id="{48A5AF82-9026-8452-61BA-0F55AA50564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3" y="2140"/>
                <a:ext cx="826" cy="253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CA" altLang="en-US" b="1" noProof="1">
                    <a:solidFill>
                      <a:schemeClr val="bg1"/>
                    </a:solidFill>
                  </a:rPr>
                  <a:t>Opportunity Assessment</a:t>
                </a:r>
              </a:p>
            </p:txBody>
          </p:sp>
          <p:sp>
            <p:nvSpPr>
              <p:cNvPr id="15" name="Rectangle 9">
                <a:extLst>
                  <a:ext uri="{FF2B5EF4-FFF2-40B4-BE49-F238E27FC236}">
                    <a16:creationId xmlns:a16="http://schemas.microsoft.com/office/drawing/2014/main" id="{EF7DDDBB-681E-3C95-068A-A9ABB60973B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29" y="2140"/>
                <a:ext cx="825" cy="253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CA" altLang="en-US" b="1" noProof="1">
                    <a:solidFill>
                      <a:schemeClr val="bg1"/>
                    </a:solidFill>
                  </a:rPr>
                  <a:t>Define a Path Forward</a:t>
                </a:r>
              </a:p>
            </p:txBody>
          </p:sp>
        </p:grp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218485E-41FC-5BC1-88B5-1D48D25ACC65}"/>
                </a:ext>
              </a:extLst>
            </p:cNvPr>
            <p:cNvSpPr/>
            <p:nvPr/>
          </p:nvSpPr>
          <p:spPr>
            <a:xfrm rot="5400000">
              <a:off x="6021586" y="1816100"/>
              <a:ext cx="1586081" cy="955334"/>
            </a:xfrm>
            <a:prstGeom prst="triangle">
              <a:avLst/>
            </a:prstGeom>
            <a:solidFill>
              <a:schemeClr val="hlink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CA" sz="1200" b="1">
                <a:solidFill>
                  <a:schemeClr val="bg1"/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6566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3"/>
          <p:cNvSpPr txBox="1"/>
          <p:nvPr/>
        </p:nvSpPr>
        <p:spPr>
          <a:xfrm>
            <a:off x="1524756" y="5048749"/>
            <a:ext cx="6316072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BankingBook</a:t>
            </a:r>
            <a:r>
              <a:rPr lang="en-US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Analytics (BBA FinTech)</a:t>
            </a:r>
            <a:endParaRPr dirty="0"/>
          </a:p>
        </p:txBody>
      </p:sp>
      <p:sp>
        <p:nvSpPr>
          <p:cNvPr id="467" name="Google Shape;467;p23"/>
          <p:cNvSpPr txBox="1"/>
          <p:nvPr/>
        </p:nvSpPr>
        <p:spPr>
          <a:xfrm>
            <a:off x="-6134" y="3508951"/>
            <a:ext cx="245672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US" sz="1800" b="1" dirty="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+973 3745 0606</a:t>
            </a:r>
            <a:endParaRPr dirty="0"/>
          </a:p>
        </p:txBody>
      </p:sp>
      <p:sp>
        <p:nvSpPr>
          <p:cNvPr id="468" name="Google Shape;468;p23"/>
          <p:cNvSpPr txBox="1"/>
          <p:nvPr/>
        </p:nvSpPr>
        <p:spPr>
          <a:xfrm>
            <a:off x="2169909" y="3530103"/>
            <a:ext cx="409577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US" sz="1800" b="1" dirty="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contact@bbafintech.com</a:t>
            </a:r>
            <a:endParaRPr dirty="0"/>
          </a:p>
        </p:txBody>
      </p:sp>
      <p:sp>
        <p:nvSpPr>
          <p:cNvPr id="469" name="Google Shape;469;p23"/>
          <p:cNvSpPr txBox="1"/>
          <p:nvPr/>
        </p:nvSpPr>
        <p:spPr>
          <a:xfrm>
            <a:off x="6009661" y="3496251"/>
            <a:ext cx="298756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US" sz="1800" b="1" dirty="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bbafintech.com</a:t>
            </a:r>
            <a:endParaRPr dirty="0"/>
          </a:p>
        </p:txBody>
      </p:sp>
      <p:sp>
        <p:nvSpPr>
          <p:cNvPr id="470" name="Google Shape;470;p23"/>
          <p:cNvSpPr/>
          <p:nvPr/>
        </p:nvSpPr>
        <p:spPr>
          <a:xfrm>
            <a:off x="949656" y="2494175"/>
            <a:ext cx="308581" cy="92850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075" tIns="38075" rIns="38075" bIns="38075" anchor="ctr" anchorCtr="0">
            <a:noAutofit/>
          </a:bodyPr>
          <a:lstStyle/>
          <a:p>
            <a:pPr>
              <a:buSzPts val="1800"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7267972" y="2649753"/>
            <a:ext cx="470939" cy="77292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075" tIns="38075" rIns="38075" bIns="38075" anchor="ctr" anchorCtr="0">
            <a:noAutofit/>
          </a:bodyPr>
          <a:lstStyle/>
          <a:p>
            <a:pPr>
              <a:buSzPts val="1800"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4049463" y="2685713"/>
            <a:ext cx="427285" cy="701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38075" tIns="38075" rIns="38075" bIns="38075" anchor="ctr" anchorCtr="0">
            <a:noAutofit/>
          </a:bodyPr>
          <a:lstStyle/>
          <a:p>
            <a:pPr>
              <a:buSzPts val="1800"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04AB9-B60B-7143-71D9-E7998CCC52E4}"/>
              </a:ext>
            </a:extLst>
          </p:cNvPr>
          <p:cNvSpPr txBox="1"/>
          <p:nvPr/>
        </p:nvSpPr>
        <p:spPr>
          <a:xfrm>
            <a:off x="2169229" y="111634"/>
            <a:ext cx="45774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 Let’s Build Your Sustainable Future</a:t>
            </a:r>
            <a:endParaRPr lang="en-CA" sz="1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CC8D29-65F1-44BB-31CF-2989C6CF1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911" y="302523"/>
            <a:ext cx="1104900" cy="110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30E1B6-A1D5-ADAF-DD96-1882F75F85A0}"/>
              </a:ext>
            </a:extLst>
          </p:cNvPr>
          <p:cNvSpPr txBox="1"/>
          <p:nvPr/>
        </p:nvSpPr>
        <p:spPr>
          <a:xfrm>
            <a:off x="2169909" y="367099"/>
            <a:ext cx="4576762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Next Steps: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457200" lvl="1" indent="-285750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1. Schedule a 30-minute discovery call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457200" lvl="1" indent="-285750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2. Receive a high-level opportunity assessment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457200" lvl="1" indent="-285750">
              <a:spcBef>
                <a:spcPts val="450"/>
              </a:spcBef>
              <a:buFont typeface="Courier New" panose="02070309020205020404" pitchFamily="49" charset="0"/>
              <a:buChar char="o"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3. Define a path forward (Managed or Advisory)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CP Color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FFFF"/>
      </a:accent1>
      <a:accent2>
        <a:srgbClr val="C2DFFD"/>
      </a:accent2>
      <a:accent3>
        <a:srgbClr val="85C0FB"/>
      </a:accent3>
      <a:accent4>
        <a:srgbClr val="0F75BD"/>
      </a:accent4>
      <a:accent5>
        <a:srgbClr val="023160"/>
      </a:accent5>
      <a:accent6>
        <a:srgbClr val="FF9900"/>
      </a:accent6>
      <a:hlink>
        <a:srgbClr val="0563C1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CCP Color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FFFF"/>
      </a:accent1>
      <a:accent2>
        <a:srgbClr val="C2DFFD"/>
      </a:accent2>
      <a:accent3>
        <a:srgbClr val="85C0FB"/>
      </a:accent3>
      <a:accent4>
        <a:srgbClr val="0F75BD"/>
      </a:accent4>
      <a:accent5>
        <a:srgbClr val="023160"/>
      </a:accent5>
      <a:accent6>
        <a:srgbClr val="FF9900"/>
      </a:accent6>
      <a:hlink>
        <a:srgbClr val="0563C1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161023</TotalTime>
  <Words>2648</Words>
  <Application>Microsoft Office PowerPoint</Application>
  <PresentationFormat>On-screen Show (4:3)</PresentationFormat>
  <Paragraphs>381</Paragraphs>
  <Slides>23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1_Custom Design</vt:lpstr>
      <vt:lpstr>2_Custom Design</vt:lpstr>
      <vt:lpstr>  Powering the Financial Future: Intelligent Automation for Banks, Insurers, Funds and more  Use Cases for Banks, Insurers, Funds and Governmental Organizations</vt:lpstr>
      <vt:lpstr>Strategic Vision: Transforming Regulatory Burden into Strategic Advantage</vt:lpstr>
      <vt:lpstr>One Platform, Endless Possibilities: Powering the Entire Ecosystem</vt:lpstr>
      <vt:lpstr>BBA Intelligent Data Platform</vt:lpstr>
      <vt:lpstr>Agenda </vt:lpstr>
      <vt:lpstr>💬 Strategic Command Center | Guaranteed 3:1 ROI Use case: Brand Positioning, Peer Analysis of Loan Loss Provisioning, Funding, Rate Ladder and AI Strategic Advisor</vt:lpstr>
      <vt:lpstr>📊 Risk Advisor | Guaranteed 5:1 ROI Investment Banks Use Case</vt:lpstr>
      <vt:lpstr>🏦 Compliance Co-Pilot | Guaranteed 7:1 ROI  Commercial Banks Use Case</vt:lpstr>
      <vt:lpstr>Compliance Co-Pilot | National Talent Empowerment &amp; Efficiency Supporting Localization Initiatives with Intelligent Automation</vt:lpstr>
      <vt:lpstr>👁️ Regulatory/SupTech Use Case: Automated Supervisory Data Submission</vt:lpstr>
      <vt:lpstr>Agenda </vt:lpstr>
      <vt:lpstr>BBA Reporting Automation – Choose Your Path Tailored solutions to meet your data governance and infrastructure preferences.</vt:lpstr>
      <vt:lpstr>Implementation Phases</vt:lpstr>
      <vt:lpstr>Agenda </vt:lpstr>
      <vt:lpstr>Reporting Automation Project - Key Outcomes &amp; Strategic Benefits Quantifiable Benefits &amp; Key Performance Indicators (KPIs)</vt:lpstr>
      <vt:lpstr>Intelligence Hub</vt:lpstr>
      <vt:lpstr>Strategic Command Centre with Integrated Work Flow – An Example</vt:lpstr>
      <vt:lpstr>The BBA Solution: Transform Reporting from a Burden to a Strategic Advantage</vt:lpstr>
      <vt:lpstr>Case Study: From 5-Day Fire Drill to 10-Minute Click: A Blueprint for Your Success</vt:lpstr>
      <vt:lpstr>Agenda </vt:lpstr>
      <vt:lpstr>We use secure, enterprise-grade technology (Microsoft Azure) and our own proprietary AI to do the heavy lifting. You get the insights, not the complexity.</vt:lpstr>
      <vt:lpstr>Ready to Transform Your Regulatory Reporting?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BBA - BankingBook Analytics Official Company Profile</dc:title>
  <dc:creator>Lenovo-G50-70</dc:creator>
  <cp:lastModifiedBy>Sohail Farooq</cp:lastModifiedBy>
  <cp:revision>623</cp:revision>
  <cp:lastPrinted>2024-07-08T21:30:34Z</cp:lastPrinted>
  <dcterms:created xsi:type="dcterms:W3CDTF">2014-12-01T06:29:31Z</dcterms:created>
  <dcterms:modified xsi:type="dcterms:W3CDTF">2026-01-05T16:25:22Z</dcterms:modified>
</cp:coreProperties>
</file>